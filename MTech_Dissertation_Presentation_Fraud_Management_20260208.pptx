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84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BIRLA INSTITUTE OF TECHNOLOGY AND SCIENCE, PILANI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Master of Technology (MTech)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8409" y="3200400"/>
            <a:ext cx="5847178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rPr dirty="0"/>
              <a:t>FRAUD MANAGEMENT SYSTEM</a:t>
            </a:r>
          </a:p>
          <a:p>
            <a:r>
              <a:rPr lang="en-US" dirty="0"/>
              <a:t>    </a:t>
            </a:r>
            <a:r>
              <a:rPr dirty="0"/>
              <a:t>USING ARTIFICIAL INTELLIGENCE</a:t>
            </a:r>
            <a:r>
              <a:rPr lang="en-US" dirty="0"/>
              <a:t> </a:t>
            </a:r>
            <a:r>
              <a:rPr dirty="0"/>
              <a:t>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Final Semester Dissertation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Simit Das | BITS ID: 2023AA05807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Introduction &amp; Problem Statement</a:t>
            </a:r>
          </a:p>
          <a:p>
            <a:pPr>
              <a:defRPr sz="1600"/>
            </a:pPr>
            <a:r>
              <a:t>Project Objectives</a:t>
            </a:r>
          </a:p>
          <a:p>
            <a:pPr>
              <a:defRPr sz="1600"/>
            </a:pPr>
            <a:r>
              <a:t>System Architecture Overview</a:t>
            </a:r>
          </a:p>
          <a:p>
            <a:pPr>
              <a:defRPr sz="1600"/>
            </a:pPr>
            <a:r>
              <a:t>Core Modules Explanation</a:t>
            </a:r>
          </a:p>
          <a:p>
            <a:pPr>
              <a:defRPr sz="1600"/>
            </a:pPr>
            <a:r>
              <a:t>Workflow &amp; Data Flow</a:t>
            </a:r>
          </a:p>
          <a:p>
            <a:pPr>
              <a:defRPr sz="1600"/>
            </a:pPr>
            <a:r>
              <a:t>Technologies &amp; Tools Used</a:t>
            </a:r>
          </a:p>
          <a:p>
            <a:pPr>
              <a:defRPr sz="1600"/>
            </a:pPr>
            <a:r>
              <a:t>Algorithms &amp; Methodology</a:t>
            </a:r>
          </a:p>
          <a:p>
            <a:pPr>
              <a:defRPr sz="1600"/>
            </a:pPr>
            <a:r>
              <a:t>Results &amp; Performance Metrics</a:t>
            </a:r>
          </a:p>
          <a:p>
            <a:pPr>
              <a:defRPr sz="1600"/>
            </a:pPr>
            <a:r>
              <a:t>Benefits &amp; Applications</a:t>
            </a:r>
          </a:p>
          <a:p>
            <a:pPr>
              <a:defRPr sz="1600"/>
            </a:pPr>
            <a:r>
              <a:t>Future Enhancements</a:t>
            </a:r>
          </a:p>
          <a:p>
            <a:pPr>
              <a:defRPr sz="16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Context of financial fraud and the motivation for this work.</a:t>
            </a:r>
          </a:p>
          <a:p>
            <a:pPr>
              <a:spcAft>
                <a:spcPts val="600"/>
              </a:spcAft>
              <a:defRPr sz="1800" b="1"/>
            </a:pPr>
            <a:r>
              <a:t>Background</a:t>
            </a:r>
          </a:p>
          <a:p>
            <a:pPr lvl="1">
              <a:defRPr sz="1400"/>
            </a:pPr>
            <a:r>
              <a:t>Financial fraud is growing exponentially with digital transactions</a:t>
            </a:r>
          </a:p>
          <a:p>
            <a:pPr lvl="1">
              <a:defRPr sz="1400"/>
            </a:pPr>
            <a:r>
              <a:t>Traditional rule-based systems are inadequate for modern fraud patterns</a:t>
            </a:r>
          </a:p>
          <a:p>
            <a:pPr lvl="1">
              <a:defRPr sz="1400"/>
            </a:pPr>
            <a:r>
              <a:t>Organizations lose billions annually to fraud</a:t>
            </a:r>
          </a:p>
          <a:p>
            <a:endParaRPr/>
          </a:p>
          <a:p>
            <a:pPr>
              <a:spcAft>
                <a:spcPts val="600"/>
              </a:spcAft>
              <a:defRPr sz="1800" b="1"/>
            </a:pPr>
            <a:r>
              <a:t>Key Challenges</a:t>
            </a:r>
          </a:p>
          <a:p>
            <a:pPr lvl="1">
              <a:defRPr sz="1400"/>
            </a:pPr>
            <a:r>
              <a:t>High volume and velocity of transactions</a:t>
            </a:r>
          </a:p>
          <a:p>
            <a:pPr lvl="1">
              <a:defRPr sz="1400"/>
            </a:pPr>
            <a:r>
              <a:t>Evolving fraud techniques</a:t>
            </a:r>
          </a:p>
          <a:p>
            <a:pPr lvl="1">
              <a:defRPr sz="1400"/>
            </a:pPr>
            <a:r>
              <a:t>High false positive rates</a:t>
            </a:r>
          </a:p>
          <a:p>
            <a:pPr lvl="1">
              <a:defRPr sz="1400"/>
            </a:pPr>
            <a:r>
              <a:t>Need for real-time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What the proposed fraud management system is designed to achieve.</a:t>
            </a:r>
          </a:p>
          <a:p>
            <a:pPr>
              <a:spcAft>
                <a:spcPts val="800"/>
              </a:spcAft>
              <a:defRPr sz="1600"/>
            </a:pPr>
            <a:r>
              <a:t>Design modular fraud management system using AI/ML</a:t>
            </a:r>
          </a:p>
          <a:p>
            <a:pPr>
              <a:spcAft>
                <a:spcPts val="800"/>
              </a:spcAft>
              <a:defRPr sz="1600"/>
            </a:pPr>
            <a:r>
              <a:t>Implement multiple detection algorithms (Isolation Forest, Random Forest, Gradient Boosting)</a:t>
            </a:r>
          </a:p>
          <a:p>
            <a:pPr>
              <a:spcAft>
                <a:spcPts val="800"/>
              </a:spcAft>
              <a:defRPr sz="1600"/>
            </a:pPr>
            <a:r>
              <a:t>Develop comprehensive customer risk profiling</a:t>
            </a:r>
          </a:p>
          <a:p>
            <a:pPr>
              <a:spcAft>
                <a:spcPts val="800"/>
              </a:spcAft>
              <a:defRPr sz="1600"/>
            </a:pPr>
            <a:r>
              <a:t>Build real-time anomaly detection system</a:t>
            </a:r>
          </a:p>
          <a:p>
            <a:pPr>
              <a:spcAft>
                <a:spcPts val="800"/>
              </a:spcAft>
              <a:defRPr sz="1600"/>
            </a:pPr>
            <a:r>
              <a:t>Create predictive models with &gt;95% accuracy</a:t>
            </a:r>
          </a:p>
          <a:p>
            <a:pPr>
              <a:spcAft>
                <a:spcPts val="800"/>
              </a:spcAft>
              <a:defRPr sz="1600"/>
            </a:pPr>
            <a:r>
              <a:t>Develop intuitive web interface for fraud analysts</a:t>
            </a:r>
          </a:p>
          <a:p>
            <a:pPr>
              <a:spcAft>
                <a:spcPts val="800"/>
              </a:spcAft>
              <a:defRPr sz="1600"/>
            </a:pPr>
            <a:r>
              <a:t>Implement model persistence for production deployment</a:t>
            </a:r>
          </a:p>
          <a:p>
            <a:pPr>
              <a:spcAft>
                <a:spcPts val="800"/>
              </a:spcAft>
              <a:defRPr sz="1600"/>
            </a:pPr>
            <a:r>
              <a:t>Ensure system scalability and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  <a:solidFill>
            <a:srgbClr val="006699"/>
          </a:solidFill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dirty="0"/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 dirty="0"/>
          </a:p>
          <a:p>
            <a:pPr>
              <a:spcAft>
                <a:spcPts val="400"/>
              </a:spcAft>
              <a:defRPr sz="1600" b="1"/>
            </a:pPr>
            <a:r>
              <a:rPr dirty="0"/>
              <a:t>User Interface Layer</a:t>
            </a:r>
          </a:p>
          <a:p>
            <a:pPr lvl="1">
              <a:spcAft>
                <a:spcPts val="1200"/>
              </a:spcAft>
              <a:defRPr sz="1400"/>
            </a:pPr>
            <a:r>
              <a:rPr dirty="0" err="1"/>
              <a:t>Streamlit</a:t>
            </a:r>
            <a:r>
              <a:rPr dirty="0"/>
              <a:t> Web App &amp; CLI</a:t>
            </a:r>
          </a:p>
          <a:p>
            <a:pPr>
              <a:spcAft>
                <a:spcPts val="400"/>
              </a:spcAft>
              <a:defRPr sz="1600" b="1"/>
            </a:pPr>
            <a:r>
              <a:rPr dirty="0"/>
              <a:t>Orchestration Layer</a:t>
            </a:r>
          </a:p>
          <a:p>
            <a:pPr lvl="1">
              <a:spcAft>
                <a:spcPts val="1200"/>
              </a:spcAft>
              <a:defRPr sz="1400"/>
            </a:pPr>
            <a:r>
              <a:rPr dirty="0" err="1"/>
              <a:t>AMLComplianceSystem</a:t>
            </a:r>
            <a:r>
              <a:rPr dirty="0"/>
              <a:t> (Central </a:t>
            </a:r>
            <a:br>
              <a:rPr lang="en-US" dirty="0"/>
            </a:br>
            <a:r>
              <a:rPr dirty="0"/>
              <a:t>Coordinator)</a:t>
            </a:r>
          </a:p>
          <a:p>
            <a:pPr>
              <a:spcAft>
                <a:spcPts val="400"/>
              </a:spcAft>
              <a:defRPr sz="1600" b="1"/>
            </a:pPr>
            <a:r>
              <a:rPr dirty="0"/>
              <a:t>Processing Modules Layer</a:t>
            </a:r>
          </a:p>
          <a:p>
            <a:pPr lvl="1">
              <a:spcAft>
                <a:spcPts val="1200"/>
              </a:spcAft>
              <a:defRPr sz="1400"/>
            </a:pPr>
            <a:r>
              <a:rPr dirty="0"/>
              <a:t>5 Specialized Modules</a:t>
            </a:r>
          </a:p>
          <a:p>
            <a:pPr>
              <a:spcAft>
                <a:spcPts val="400"/>
              </a:spcAft>
              <a:defRPr sz="1600" b="1"/>
            </a:pPr>
            <a:r>
              <a:rPr dirty="0"/>
              <a:t>Data Storage Layer</a:t>
            </a:r>
          </a:p>
          <a:p>
            <a:pPr lvl="1">
              <a:spcAft>
                <a:spcPts val="1200"/>
              </a:spcAft>
              <a:defRPr sz="1400"/>
            </a:pPr>
            <a:r>
              <a:rPr dirty="0"/>
              <a:t>Input Data, Models, Configuration</a:t>
            </a:r>
          </a:p>
          <a:p>
            <a:pPr>
              <a:defRPr sz="1400" i="1">
                <a:solidFill>
                  <a:srgbClr val="003366"/>
                </a:solidFill>
              </a:defRPr>
            </a:pPr>
            <a:r>
              <a:rPr dirty="0"/>
              <a:t>Design Principles: Modular, Scalable, </a:t>
            </a:r>
            <a:br>
              <a:rPr lang="en-US" dirty="0"/>
            </a:br>
            <a:r>
              <a:rPr dirty="0"/>
              <a:t>Maintainable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8A6D3-50B7-003E-D60D-1C7B6F3DC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980" y="576196"/>
            <a:ext cx="6025019" cy="6279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Design Patterns &amp;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rPr dirty="0"/>
              <a:t>Key Design Patterns</a:t>
            </a:r>
          </a:p>
          <a:p>
            <a:pPr lvl="1">
              <a:defRPr sz="1400"/>
            </a:pPr>
            <a:r>
              <a:rPr dirty="0"/>
              <a:t>Layered architecture separating UI, orchestration, modules and data layers</a:t>
            </a:r>
          </a:p>
          <a:p>
            <a:pPr lvl="1">
              <a:defRPr sz="1400"/>
            </a:pPr>
            <a:r>
              <a:rPr dirty="0"/>
              <a:t>Facade / Orchestrator: </a:t>
            </a:r>
            <a:r>
              <a:rPr dirty="0" err="1"/>
              <a:t>AMLComplianceSystem</a:t>
            </a:r>
            <a:r>
              <a:rPr dirty="0"/>
              <a:t> exposes a simple entry point to complex flows</a:t>
            </a:r>
          </a:p>
          <a:p>
            <a:pPr lvl="1">
              <a:defRPr sz="1400"/>
            </a:pPr>
            <a:r>
              <a:rPr dirty="0"/>
              <a:t>Strategy-style use of interchangeable algorithms for anomaly detection and ML prediction</a:t>
            </a:r>
          </a:p>
          <a:p>
            <a:pPr lvl="1">
              <a:defRPr sz="1400"/>
            </a:pPr>
            <a:r>
              <a:rPr dirty="0"/>
              <a:t>Modular design with single-responsibility modules (Data Manager, Profiler, Detector, etc.)</a:t>
            </a:r>
          </a:p>
          <a:p>
            <a:pPr lvl="1">
              <a:defRPr sz="1400"/>
            </a:pPr>
            <a:r>
              <a:rPr dirty="0"/>
              <a:t>Pipeline-style data flow: ingestion → validation → feature engineering → detection → reporting</a:t>
            </a:r>
          </a:p>
          <a:p>
            <a:pPr>
              <a:spcBef>
                <a:spcPts val="800"/>
              </a:spcBef>
              <a:defRPr sz="1600" b="1">
                <a:solidFill>
                  <a:srgbClr val="003366"/>
                </a:solidFill>
              </a:defRPr>
            </a:pPr>
            <a:r>
              <a:rPr dirty="0"/>
              <a:t>Benefits</a:t>
            </a:r>
          </a:p>
          <a:p>
            <a:pPr lvl="1">
              <a:defRPr sz="1400"/>
            </a:pPr>
            <a:r>
              <a:rPr dirty="0"/>
              <a:t>Improves maintainability and testability of individual modules</a:t>
            </a:r>
          </a:p>
          <a:p>
            <a:pPr lvl="1">
              <a:defRPr sz="1400"/>
            </a:pPr>
            <a:r>
              <a:rPr dirty="0"/>
              <a:t>Enables easy swapping or extension of algorithms without changing orchestration</a:t>
            </a:r>
          </a:p>
          <a:p>
            <a:pPr lvl="1">
              <a:defRPr sz="1400"/>
            </a:pPr>
            <a:r>
              <a:rPr dirty="0"/>
              <a:t>Supports scalability and deployment flexibility (on-prem or cloud)</a:t>
            </a:r>
          </a:p>
          <a:p>
            <a:pPr lvl="1">
              <a:defRPr sz="1400"/>
            </a:pPr>
            <a:r>
              <a:rPr dirty="0"/>
              <a:t>Reduces coupling between UI and core AML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Core Modules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t>1. Data Manager</a:t>
            </a:r>
          </a:p>
          <a:p>
            <a:pPr lvl="1">
              <a:spcAft>
                <a:spcPts val="1000"/>
              </a:spcAft>
              <a:defRPr sz="1400"/>
            </a:pPr>
            <a:r>
              <a:t>Data loading, validation, preprocessing &amp; feature engineering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t>2. Customer Profiler</a:t>
            </a:r>
          </a:p>
          <a:p>
            <a:pPr lvl="1">
              <a:spcAft>
                <a:spcPts val="1000"/>
              </a:spcAft>
              <a:defRPr sz="1400"/>
            </a:pPr>
            <a:r>
              <a:t>Risk assessment, behavior analysis &amp; customer segmentation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t>3. Anomaly Detector</a:t>
            </a:r>
          </a:p>
          <a:p>
            <a:pPr lvl="1">
              <a:spcAft>
                <a:spcPts val="1000"/>
              </a:spcAft>
              <a:defRPr sz="1400"/>
            </a:pPr>
            <a:r>
              <a:t>Multi-algorithm anomaly detection using ensemble methods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t>4. ML Predictor</a:t>
            </a:r>
          </a:p>
          <a:p>
            <a:pPr lvl="1">
              <a:spcAft>
                <a:spcPts val="1000"/>
              </a:spcAft>
              <a:defRPr sz="1400"/>
            </a:pPr>
            <a:r>
              <a:t>Supervised learning models for fraud classification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t>5. Visualizer</a:t>
            </a:r>
          </a:p>
          <a:p>
            <a:pPr lvl="1">
              <a:spcAft>
                <a:spcPts val="1000"/>
              </a:spcAft>
              <a:defRPr sz="1400"/>
            </a:pPr>
            <a:r>
              <a:t>Comprehensive data visualization &amp;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Module 1: Data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Handles all data-related operations including loading, validation, and preprocessing</a:t>
            </a:r>
          </a:p>
          <a:p>
            <a:pPr>
              <a:defRPr sz="1600" b="1"/>
            </a:pPr>
            <a:r>
              <a:t>Key Features</a:t>
            </a:r>
          </a:p>
          <a:p>
            <a:pPr lvl="1">
              <a:defRPr sz="1400"/>
            </a:pPr>
            <a:r>
              <a:t>CSV file loading with validation</a:t>
            </a:r>
          </a:p>
          <a:p>
            <a:pPr lvl="1">
              <a:defRPr sz="1400"/>
            </a:pPr>
            <a:r>
              <a:t>Synthetic data generation for testing</a:t>
            </a:r>
          </a:p>
          <a:p>
            <a:pPr lvl="1">
              <a:defRPr sz="1400"/>
            </a:pPr>
            <a:r>
              <a:t>Data cleaning and missing value handling</a:t>
            </a:r>
          </a:p>
          <a:p>
            <a:pPr lvl="1">
              <a:defRPr sz="1400"/>
            </a:pPr>
            <a:r>
              <a:t>Feature engineering (20+ derived features)</a:t>
            </a:r>
          </a:p>
          <a:p>
            <a:pPr lvl="1">
              <a:defRPr sz="1400"/>
            </a:pPr>
            <a:r>
              <a:t>Support for batch and real-time processing</a:t>
            </a:r>
          </a:p>
          <a:p>
            <a:pPr lvl="1">
              <a:defRPr sz="1400"/>
            </a:pPr>
            <a:r>
              <a:t>Robust error handling and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Module 2: Customer Profiler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Analyzes customer behavior and assigns risk scores</a:t>
            </a:r>
          </a:p>
          <a:p>
            <a:pPr>
              <a:defRPr sz="1600" b="1"/>
            </a:pPr>
            <a:r>
              <a:t>Risk Factors Analyzed</a:t>
            </a:r>
          </a:p>
          <a:p>
            <a:pPr lvl="1">
              <a:defRPr sz="1400"/>
            </a:pPr>
            <a:r>
              <a:t>Transaction volume and patterns</a:t>
            </a:r>
          </a:p>
          <a:p>
            <a:pPr lvl="1">
              <a:defRPr sz="1400"/>
            </a:pPr>
            <a:r>
              <a:t>Cross-border transaction tracking</a:t>
            </a:r>
          </a:p>
          <a:p>
            <a:pPr lvl="1">
              <a:defRPr sz="1400"/>
            </a:pPr>
            <a:r>
              <a:t>Structuring indicators (near-threshold transactions)</a:t>
            </a:r>
          </a:p>
          <a:p>
            <a:pPr lvl="1">
              <a:defRPr sz="1400"/>
            </a:pPr>
            <a:r>
              <a:t>Rapid transaction velocity</a:t>
            </a:r>
          </a:p>
          <a:p>
            <a:pPr lvl="1">
              <a:defRPr sz="1400"/>
            </a:pPr>
            <a:r>
              <a:t>High-risk location identification</a:t>
            </a:r>
          </a:p>
          <a:p>
            <a:pPr lvl="1">
              <a:defRPr sz="1400"/>
            </a:pPr>
            <a:r>
              <a:t>Multi-currency usage patterns</a:t>
            </a:r>
          </a:p>
          <a:p>
            <a:pPr lvl="1">
              <a:defRPr sz="1400"/>
            </a:pPr>
            <a:r>
              <a:t>Verification status (email, phone)</a:t>
            </a:r>
          </a:p>
          <a:p>
            <a:pPr>
              <a:spcBef>
                <a:spcPts val="1000"/>
              </a:spcBef>
              <a:defRPr sz="1400" i="1"/>
            </a:pPr>
            <a:r>
              <a:t>Output: Risk Score (0-100) &amp; Classification (Low/Medium/High/Critical)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Module 3: Anomaly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Unsupervised engine that spots unusual, high-risk transaction behaviour.</a:t>
            </a:r>
          </a:p>
          <a:p>
            <a:pPr>
              <a:defRPr sz="1600" b="1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Identifies unusual transactions using multiple algorithms</a:t>
            </a:r>
          </a:p>
          <a:p>
            <a:pPr>
              <a:defRPr sz="1600" b="1"/>
            </a:pPr>
            <a:r>
              <a:t>Detection Methods</a:t>
            </a:r>
          </a:p>
          <a:p>
            <a:pPr lvl="1">
              <a:spcAft>
                <a:spcPts val="600"/>
              </a:spcAft>
              <a:defRPr sz="1400"/>
            </a:pPr>
            <a:r>
              <a:t>Isolation Forest: Unsupervised ML algorithm (10% contamination)</a:t>
            </a:r>
          </a:p>
          <a:p>
            <a:pPr lvl="1">
              <a:spcAft>
                <a:spcPts val="600"/>
              </a:spcAft>
              <a:defRPr sz="1400"/>
            </a:pPr>
            <a:r>
              <a:t>Z-Score Analysis: Statistical outlier detection (3σ threshold)</a:t>
            </a:r>
          </a:p>
          <a:p>
            <a:pPr lvl="1">
              <a:spcAft>
                <a:spcPts val="600"/>
              </a:spcAft>
              <a:defRPr sz="1400"/>
            </a:pPr>
            <a:r>
              <a:t>IQR Method: Interquartile Range based detection</a:t>
            </a:r>
          </a:p>
          <a:p>
            <a:pPr lvl="1">
              <a:spcAft>
                <a:spcPts val="600"/>
              </a:spcAft>
              <a:defRPr sz="1400"/>
            </a:pPr>
            <a:r>
              <a:t>Ensemble Voting: Combines multiple methods for robust detection</a:t>
            </a:r>
          </a:p>
          <a:p>
            <a:pPr>
              <a:spcBef>
                <a:spcPts val="1000"/>
              </a:spcBef>
              <a:defRPr sz="1400" i="1">
                <a:solidFill>
                  <a:srgbClr val="006450"/>
                </a:solidFill>
              </a:defRPr>
            </a:pPr>
            <a:r>
              <a:t>Advantage: 95%+ detection accuracy with confidence scores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Module 4: ML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Supervised learning models that classify transactions as fraudulent or legitimate.</a:t>
            </a:r>
          </a:p>
          <a:p>
            <a:pPr>
              <a:defRPr sz="1600" b="1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Supervised learning for fraud classification and prediction</a:t>
            </a:r>
          </a:p>
          <a:p>
            <a:pPr>
              <a:defRPr sz="1600" b="1"/>
            </a:pPr>
            <a:r>
              <a:t>Algorithms Implemented</a:t>
            </a:r>
          </a:p>
          <a:p>
            <a:pPr lvl="1">
              <a:spcAft>
                <a:spcPts val="600"/>
              </a:spcAft>
              <a:defRPr sz="1400"/>
            </a:pPr>
            <a:r>
              <a:t>Random Forest: 100 trees, max depth 20, class balancing</a:t>
            </a:r>
          </a:p>
          <a:p>
            <a:pPr lvl="1">
              <a:spcAft>
                <a:spcPts val="600"/>
              </a:spcAft>
              <a:defRPr sz="1400"/>
            </a:pPr>
            <a:r>
              <a:t>Gradient Boosting: Sequential learning, 0.1 learning rate</a:t>
            </a:r>
          </a:p>
          <a:p>
            <a:pPr lvl="1">
              <a:spcAft>
                <a:spcPts val="600"/>
              </a:spcAft>
              <a:defRPr sz="1400"/>
            </a:pPr>
            <a:r>
              <a:t>Feature Scaling: StandardScaler normalization</a:t>
            </a:r>
          </a:p>
          <a:p>
            <a:pPr lvl="1">
              <a:spcAft>
                <a:spcPts val="600"/>
              </a:spcAft>
              <a:defRPr sz="1400"/>
            </a:pPr>
            <a:r>
              <a:t>Cross-validation: 5-fold for model selection</a:t>
            </a:r>
          </a:p>
          <a:p>
            <a:pPr>
              <a:spcBef>
                <a:spcPts val="800"/>
              </a:spcBef>
              <a:defRPr sz="1600" b="1"/>
            </a:pPr>
            <a:r>
              <a:t>Training Process</a:t>
            </a:r>
          </a:p>
          <a:p>
            <a:pPr lvl="1">
              <a:defRPr sz="1400"/>
            </a:pPr>
            <a:r>
              <a:t>Feature engineering → Train-test split → Model training → Evaluation → 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Module 5: Visualizer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Analytics and reporting layer that turns model outputs into insights.</a:t>
            </a:r>
          </a:p>
          <a:p>
            <a:pPr>
              <a:defRPr sz="1600" b="1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Creates comprehensive visual analytics and reports</a:t>
            </a:r>
          </a:p>
          <a:p>
            <a:pPr>
              <a:defRPr sz="1600" b="1"/>
            </a:pPr>
            <a:r>
              <a:t>Visualization Types</a:t>
            </a:r>
          </a:p>
          <a:p>
            <a:pPr lvl="1">
              <a:defRPr sz="1400"/>
            </a:pPr>
            <a:r>
              <a:t>Transaction heatmaps (temporal patterns)</a:t>
            </a:r>
          </a:p>
          <a:p>
            <a:pPr lvl="1">
              <a:defRPr sz="1400"/>
            </a:pPr>
            <a:r>
              <a:t>Risk distribution charts</a:t>
            </a:r>
          </a:p>
          <a:p>
            <a:pPr lvl="1">
              <a:defRPr sz="1400"/>
            </a:pPr>
            <a:r>
              <a:t>Network graphs (transaction relationships)</a:t>
            </a:r>
          </a:p>
          <a:p>
            <a:pPr lvl="1">
              <a:defRPr sz="1400"/>
            </a:pPr>
            <a:r>
              <a:t>Time-series fraud trend analysis</a:t>
            </a:r>
          </a:p>
          <a:p>
            <a:pPr lvl="1">
              <a:defRPr sz="1400"/>
            </a:pPr>
            <a:r>
              <a:t>Anomaly scatter plots with outliers</a:t>
            </a:r>
          </a:p>
          <a:p>
            <a:pPr lvl="1">
              <a:defRPr sz="1400"/>
            </a:pPr>
            <a:r>
              <a:t>Feature importance bar charts</a:t>
            </a:r>
          </a:p>
          <a:p>
            <a:pPr lvl="1">
              <a:defRPr sz="1400"/>
            </a:pPr>
            <a:r>
              <a:t>Confusion matrices &amp; ROC curves</a:t>
            </a:r>
          </a:p>
          <a:p>
            <a:pPr lvl="1">
              <a:defRPr sz="1400"/>
            </a:pPr>
            <a:r>
              <a:t>Interactive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System Workflow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300" i="1">
                <a:solidFill>
                  <a:srgbClr val="282828"/>
                </a:solidFill>
              </a:defRPr>
            </a:pPr>
            <a:r>
              <a:t>End-to-end flow from raw data ingestion to actionable fraud alerts.</a:t>
            </a:r>
          </a:p>
          <a:p>
            <a:pPr>
              <a:defRPr sz="1400"/>
            </a:pPr>
            <a:r>
              <a:t>1. Data Input: Load transaction data via CSV or API</a:t>
            </a:r>
          </a:p>
          <a:p>
            <a:pPr>
              <a:defRPr sz="1400"/>
            </a:pPr>
            <a:r>
              <a:t>2. Data Validation: Clean, validate, and preprocess data</a:t>
            </a:r>
          </a:p>
          <a:p>
            <a:pPr>
              <a:defRPr sz="1400"/>
            </a:pPr>
            <a:r>
              <a:t>3. Feature Engineering: Create 20+ derived features</a:t>
            </a:r>
          </a:p>
          <a:p>
            <a:pPr>
              <a:defRPr sz="1400" b="1"/>
            </a:pPr>
            <a:r>
              <a:t>4. Parallel Processing</a:t>
            </a:r>
          </a:p>
          <a:p>
            <a:pPr lvl="2">
              <a:defRPr sz="1300"/>
            </a:pPr>
            <a:r>
              <a:t>   • Customer Profiling: Calculate risk scores</a:t>
            </a:r>
          </a:p>
          <a:p>
            <a:pPr lvl="2">
              <a:defRPr sz="1300"/>
            </a:pPr>
            <a:r>
              <a:t>   • Anomaly Detection: Identify outliers using ensemble</a:t>
            </a:r>
          </a:p>
          <a:p>
            <a:pPr lvl="2">
              <a:defRPr sz="1300"/>
            </a:pPr>
            <a:r>
              <a:t>   • ML Prediction: Classify transactions as fraud/legitimate</a:t>
            </a:r>
          </a:p>
          <a:p>
            <a:pPr>
              <a:defRPr sz="1400"/>
            </a:pPr>
            <a:r>
              <a:t>5. Result Aggregation: Combine outputs from all modules</a:t>
            </a:r>
          </a:p>
          <a:p>
            <a:pPr>
              <a:defRPr sz="1400"/>
            </a:pPr>
            <a:r>
              <a:t>6. Risk Assessment: Final fraud probability and risk level</a:t>
            </a:r>
          </a:p>
          <a:p>
            <a:pPr>
              <a:defRPr sz="1400"/>
            </a:pPr>
            <a:r>
              <a:t>7. Visualization: Generate reports and dashboards</a:t>
            </a:r>
          </a:p>
          <a:p>
            <a:pPr>
              <a:defRPr sz="1400"/>
            </a:pPr>
            <a:r>
              <a:t>8. Output: Alerts, reports, and actionable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Technologies &amp; Tools Used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Programming Language</a:t>
            </a:r>
          </a:p>
          <a:p>
            <a:pPr lvl="1">
              <a:defRPr sz="1300"/>
            </a:pPr>
            <a:r>
              <a:t>Python 3.8+ – Core implementation language for orchestration and ML pipelines</a:t>
            </a:r>
          </a:p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Data Processing</a:t>
            </a:r>
          </a:p>
          <a:p>
            <a:pPr lvl="1">
              <a:defRPr sz="1300"/>
            </a:pPr>
            <a:r>
              <a:t>pandas 2.0.0+ – Tabular data manipulation, feature engineering and aggregation</a:t>
            </a:r>
          </a:p>
          <a:p>
            <a:pPr lvl="1">
              <a:defRPr sz="1300"/>
            </a:pPr>
            <a:r>
              <a:t>numpy 1.24.0+ – Numerical computing and vectorized operations</a:t>
            </a:r>
          </a:p>
          <a:p>
            <a:pPr lvl="1">
              <a:defRPr sz="1300"/>
            </a:pPr>
            <a:r>
              <a:t>python-dateutil – Robust handling of dates, times and time zones</a:t>
            </a:r>
          </a:p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Machine Learning</a:t>
            </a:r>
          </a:p>
          <a:p>
            <a:pPr lvl="1">
              <a:defRPr sz="1300"/>
            </a:pPr>
            <a:r>
              <a:t>scikit-learn 1.3.0+ – Core ML library for Random Forest, Gradient Boosting, Isolation Forest</a:t>
            </a:r>
          </a:p>
          <a:p>
            <a:pPr lvl="1">
              <a:defRPr sz="1300"/>
            </a:pPr>
            <a:r>
              <a:t>joblib – Efficient model persistence and loading for deployment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Technologies &amp; Tools Used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Visualization</a:t>
            </a:r>
          </a:p>
          <a:p>
            <a:pPr lvl="1">
              <a:defRPr sz="1300"/>
            </a:pPr>
            <a:r>
              <a:t>matplotlib 3.7.0+ – Base plotting library for analytical charts</a:t>
            </a:r>
          </a:p>
          <a:p>
            <a:pPr lvl="1">
              <a:defRPr sz="1300"/>
            </a:pPr>
            <a:r>
              <a:t>seaborn 0.12.0+ – Statistical visualizations for patterns and distributions</a:t>
            </a:r>
          </a:p>
          <a:p>
            <a:pPr lvl="1">
              <a:defRPr sz="1300"/>
            </a:pPr>
            <a:r>
              <a:t>Pillow – Image processing for saving and exporting plots</a:t>
            </a:r>
          </a:p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Web Framework</a:t>
            </a:r>
          </a:p>
          <a:p>
            <a:pPr lvl="1">
              <a:defRPr sz="1300"/>
            </a:pPr>
            <a:r>
              <a:t>Streamlit 1.30.0+ – Interactive web UI for analysts to run scenarios</a:t>
            </a:r>
          </a:p>
          <a:p>
            <a:endParaRPr/>
          </a:p>
          <a:p>
            <a:pPr>
              <a:spcAft>
                <a:spcPts val="400"/>
              </a:spcAft>
              <a:defRPr sz="1500" b="1">
                <a:solidFill>
                  <a:srgbClr val="003366"/>
                </a:solidFill>
              </a:defRPr>
            </a:pPr>
            <a:r>
              <a:t>Development &amp; Quality</a:t>
            </a:r>
          </a:p>
          <a:p>
            <a:pPr lvl="1">
              <a:defRPr sz="1300"/>
            </a:pPr>
            <a:r>
              <a:t>Git – Version control and collaborative development</a:t>
            </a:r>
          </a:p>
          <a:p>
            <a:pPr lvl="1">
              <a:defRPr sz="1300"/>
            </a:pPr>
            <a:r>
              <a:t>GitHub – Remote repository hosting and CI integration</a:t>
            </a:r>
          </a:p>
          <a:p>
            <a:pPr lvl="1">
              <a:defRPr sz="1300"/>
            </a:pPr>
            <a:r>
              <a:t>VS Code – Primary development environment</a:t>
            </a:r>
          </a:p>
          <a:p>
            <a:pPr lvl="1">
              <a:defRPr sz="1300"/>
            </a:pPr>
            <a:r>
              <a:t>pytest – Automated testing of core modules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Algorithms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1. Isolation Forest</a:t>
            </a:r>
          </a:p>
          <a:p>
            <a:pPr lvl="1">
              <a:spcAft>
                <a:spcPts val="1000"/>
              </a:spcAft>
              <a:defRPr sz="1300"/>
            </a:pPr>
            <a:r>
              <a:t>Isolates anomalies through random partitioning • O(nlog(n)) complexity • 10% contamination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2. Random Forest</a:t>
            </a:r>
          </a:p>
          <a:p>
            <a:pPr lvl="1">
              <a:spcAft>
                <a:spcPts val="1000"/>
              </a:spcAft>
              <a:defRPr sz="1300"/>
            </a:pPr>
            <a:r>
              <a:t>Ensemble of 100 decision trees • Handles imbalanced data • Provides feature importance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3. Gradient Boosting</a:t>
            </a:r>
          </a:p>
          <a:p>
            <a:pPr lvl="1">
              <a:spcAft>
                <a:spcPts val="1000"/>
              </a:spcAft>
              <a:defRPr sz="1300"/>
            </a:pPr>
            <a:r>
              <a:t>Sequential learning • Corrects previous errors • 0.1 learning rate with early stopping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4. Statistical Methods</a:t>
            </a:r>
          </a:p>
          <a:p>
            <a:pPr lvl="1">
              <a:defRPr sz="1300"/>
            </a:pPr>
            <a:r>
              <a:t>Z-Score (3σ threshold) • IQR method • Fast and interpretable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Results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Model Performance (10,000 transactions)</a:t>
            </a:r>
          </a:p>
          <a:p>
            <a:pPr lvl="1">
              <a:defRPr sz="1500" b="1">
                <a:solidFill>
                  <a:srgbClr val="006450"/>
                </a:solidFill>
              </a:defRPr>
            </a:pPr>
            <a:r>
              <a:t>Accuracy: 96.5%</a:t>
            </a:r>
          </a:p>
          <a:p>
            <a:pPr lvl="1">
              <a:defRPr sz="1500" b="1">
                <a:solidFill>
                  <a:srgbClr val="006450"/>
                </a:solidFill>
              </a:defRPr>
            </a:pPr>
            <a:r>
              <a:t>Precision: 94.2%</a:t>
            </a:r>
          </a:p>
          <a:p>
            <a:pPr lvl="1">
              <a:defRPr sz="1500" b="1">
                <a:solidFill>
                  <a:srgbClr val="006450"/>
                </a:solidFill>
              </a:defRPr>
            </a:pPr>
            <a:r>
              <a:t>Recall: 93.8%</a:t>
            </a:r>
          </a:p>
          <a:p>
            <a:pPr lvl="1">
              <a:defRPr sz="1500" b="1">
                <a:solidFill>
                  <a:srgbClr val="006450"/>
                </a:solidFill>
              </a:defRPr>
            </a:pPr>
            <a:r>
              <a:t>F1-Score: 94.0%</a:t>
            </a:r>
          </a:p>
          <a:p>
            <a:pPr lvl="1">
              <a:defRPr sz="1500" b="1">
                <a:solidFill>
                  <a:srgbClr val="006450"/>
                </a:solidFill>
              </a:defRPr>
            </a:pPr>
            <a:r>
              <a:t>ROC-AUC: 0.98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Processing Performance</a:t>
            </a:r>
          </a:p>
          <a:p>
            <a:pPr lvl="1">
              <a:defRPr sz="1400"/>
            </a:pPr>
            <a:r>
              <a:t>Average prediction time: 5ms per transaction</a:t>
            </a:r>
          </a:p>
          <a:p>
            <a:pPr lvl="1">
              <a:defRPr sz="1400"/>
            </a:pPr>
            <a:r>
              <a:t>Throughput: 3,000 transactions/second</a:t>
            </a:r>
          </a:p>
          <a:p>
            <a:pPr lvl="1">
              <a:defRPr sz="1400"/>
            </a:pPr>
            <a:r>
              <a:t>Model training time: 45 seconds (10K samples)</a:t>
            </a:r>
          </a:p>
          <a:p>
            <a:pPr lvl="1">
              <a:defRPr sz="1400"/>
            </a:pPr>
            <a:r>
              <a:t>Memory usage: &lt;500MB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1800" b="1"/>
            </a:pPr>
            <a:r>
              <a:t>Performance Comparison</a:t>
            </a:r>
          </a:p>
          <a:p>
            <a:pPr>
              <a:spcAft>
                <a:spcPts val="400"/>
              </a:spcAft>
              <a:defRPr sz="1500" b="1"/>
            </a:pPr>
            <a:r>
              <a:t>Rule-Based System</a:t>
            </a:r>
          </a:p>
          <a:p>
            <a:pPr lvl="1">
              <a:spcAft>
                <a:spcPts val="1000"/>
              </a:spcAft>
              <a:defRPr sz="1400"/>
            </a:pPr>
            <a:r>
              <a:t>• 78.5% accuracy  |  • 15.2% false positives</a:t>
            </a:r>
          </a:p>
          <a:p>
            <a:pPr>
              <a:spcAft>
                <a:spcPts val="400"/>
              </a:spcAft>
              <a:defRPr sz="1500" b="1"/>
            </a:pPr>
            <a:r>
              <a:t>Single Algorithm (RF)</a:t>
            </a:r>
          </a:p>
          <a:p>
            <a:pPr lvl="1">
              <a:spcAft>
                <a:spcPts val="1000"/>
              </a:spcAft>
              <a:defRPr sz="1400"/>
            </a:pPr>
            <a:r>
              <a:t>• 92.1% accuracy  |  • 8.7% false positives</a:t>
            </a:r>
          </a:p>
          <a:p>
            <a:pPr>
              <a:spcAft>
                <a:spcPts val="400"/>
              </a:spcAft>
              <a:defRPr sz="1500" b="1"/>
            </a:pPr>
            <a:r>
              <a:t>Proposed System (Ensemble)</a:t>
            </a:r>
          </a:p>
          <a:p>
            <a:pPr lvl="1">
              <a:spcAft>
                <a:spcPts val="1000"/>
              </a:spcAft>
              <a:defRPr sz="1400"/>
            </a:pPr>
            <a:r>
              <a:t>• 96.5% accuracy  |  • 4.1% false positives</a:t>
            </a:r>
          </a:p>
          <a:p>
            <a:pPr>
              <a:defRPr sz="1600" b="1">
                <a:solidFill>
                  <a:srgbClr val="006450"/>
                </a:solidFill>
              </a:defRPr>
            </a:pPr>
            <a:r>
              <a:t>18% improvement over rule-based 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System Performance</a:t>
            </a:r>
          </a:p>
          <a:p>
            <a:pPr lvl="1">
              <a:defRPr sz="1400"/>
            </a:pPr>
            <a:r>
              <a:t>Average prediction latency: ~5 ms per transaction</a:t>
            </a:r>
          </a:p>
          <a:p>
            <a:pPr lvl="1">
              <a:defRPr sz="1400"/>
            </a:pPr>
            <a:r>
              <a:t>Throughput: ~3,000 transactions/second on commodity hardware</a:t>
            </a:r>
          </a:p>
          <a:p>
            <a:pPr lvl="1">
              <a:defRPr sz="1400"/>
            </a:pPr>
            <a:r>
              <a:t>Optimized feature pipeline to minimise I/O and CPU overhead</a:t>
            </a:r>
          </a:p>
          <a:p>
            <a:pPr lvl="1">
              <a:defRPr sz="1400"/>
            </a:pPr>
            <a:r>
              <a:t>Batch and near real-time processing modes supported</a:t>
            </a:r>
          </a:p>
          <a:p>
            <a:pPr>
              <a:spcBef>
                <a:spcPts val="1000"/>
              </a:spcBef>
              <a:defRPr sz="1600" b="1">
                <a:solidFill>
                  <a:srgbClr val="003366"/>
                </a:solidFill>
              </a:defRPr>
            </a:pPr>
            <a:r>
              <a:t>Scalability &amp; Deployment</a:t>
            </a:r>
          </a:p>
          <a:p>
            <a:pPr lvl="1">
              <a:defRPr sz="1400"/>
            </a:pPr>
            <a:r>
              <a:t>Modular microservice-friendly design around core AMLComplianceSystem</a:t>
            </a:r>
          </a:p>
          <a:p>
            <a:pPr lvl="1">
              <a:defRPr sz="1400"/>
            </a:pPr>
            <a:r>
              <a:t>Stateless prediction layer – can be horizontally scaled behind a load balancer</a:t>
            </a:r>
          </a:p>
          <a:p>
            <a:pPr lvl="1">
              <a:defRPr sz="1400"/>
            </a:pPr>
            <a:r>
              <a:t>Supports containerization via Docker for cloud-native deployment</a:t>
            </a:r>
          </a:p>
          <a:p>
            <a:pPr lvl="1">
              <a:defRPr sz="1400"/>
            </a:pPr>
            <a:r>
              <a:t>Model persistence enables separate training and serving environments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Benefits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Key Benefits</a:t>
            </a:r>
          </a:p>
          <a:p>
            <a:pPr lvl="1">
              <a:spcAft>
                <a:spcPts val="600"/>
              </a:spcAft>
              <a:defRPr sz="1400"/>
            </a:pPr>
            <a:r>
              <a:t>Real-time fraud detection with &lt;5ms latency</a:t>
            </a:r>
          </a:p>
          <a:p>
            <a:pPr lvl="1">
              <a:spcAft>
                <a:spcPts val="600"/>
              </a:spcAft>
              <a:defRPr sz="1400"/>
            </a:pPr>
            <a:r>
              <a:t>96.5% accuracy - significantly reduces losses</a:t>
            </a:r>
          </a:p>
          <a:p>
            <a:pPr lvl="1">
              <a:spcAft>
                <a:spcPts val="600"/>
              </a:spcAft>
              <a:defRPr sz="1400"/>
            </a:pPr>
            <a:r>
              <a:t>Low false positive rate - improves customer experience</a:t>
            </a:r>
          </a:p>
          <a:p>
            <a:pPr lvl="1">
              <a:spcAft>
                <a:spcPts val="600"/>
              </a:spcAft>
              <a:defRPr sz="1400"/>
            </a:pPr>
            <a:r>
              <a:t>Modular architecture - easy to maintain and extend</a:t>
            </a:r>
          </a:p>
          <a:p>
            <a:pPr lvl="1">
              <a:spcAft>
                <a:spcPts val="600"/>
              </a:spcAft>
              <a:defRPr sz="1400"/>
            </a:pPr>
            <a:r>
              <a:t>Scalable - handles thousands of transactions/second</a:t>
            </a:r>
          </a:p>
          <a:p>
            <a:pPr lvl="1">
              <a:spcAft>
                <a:spcPts val="600"/>
              </a:spcAft>
              <a:defRPr sz="1400"/>
            </a:pPr>
            <a:r>
              <a:t>User-friendly interface - no ML expertise required</a:t>
            </a:r>
          </a:p>
          <a:p>
            <a:pPr lvl="1">
              <a:spcAft>
                <a:spcPts val="600"/>
              </a:spcAft>
              <a:defRPr sz="1400"/>
            </a:pPr>
            <a:r>
              <a:t>Model persistence - train once, deploy anywhere</a:t>
            </a:r>
          </a:p>
          <a:p>
            <a:pPr lvl="1">
              <a:spcAft>
                <a:spcPts val="600"/>
              </a:spcAft>
              <a:defRPr sz="1400"/>
            </a:pPr>
            <a:r>
              <a:t>Comprehensive analytics - actionable insights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defRPr sz="1400" i="1"/>
            </a:pPr>
            <a:r>
              <a:t>Applications: Banking, E-commerce, Fintech, Insurance, Payment Processors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Industry Use Cases</a:t>
            </a:r>
          </a:p>
          <a:p>
            <a:pPr lvl="1">
              <a:defRPr sz="1400"/>
            </a:pPr>
            <a:r>
              <a:t>Banking &amp; AML: Monitoring suspicious account and wire-transfer activity</a:t>
            </a:r>
          </a:p>
          <a:p>
            <a:pPr lvl="1">
              <a:defRPr sz="1400"/>
            </a:pPr>
            <a:r>
              <a:t>Credit &amp; Debit Cards: Real-time card-present and card-not-present fraud detection</a:t>
            </a:r>
          </a:p>
          <a:p>
            <a:pPr lvl="1">
              <a:defRPr sz="1400"/>
            </a:pPr>
            <a:r>
              <a:t>E-commerce &amp; Payment Gateways: Identifying fraudulent orders and chargeback risk</a:t>
            </a:r>
          </a:p>
          <a:p>
            <a:pPr lvl="1">
              <a:defRPr sz="1400"/>
            </a:pPr>
            <a:r>
              <a:t>Fintech Wallets &amp; BNPL: Detecting account takeovers and abnormal spending patterns</a:t>
            </a:r>
          </a:p>
          <a:p>
            <a:pPr lvl="1">
              <a:defRPr sz="1400"/>
            </a:pPr>
            <a:r>
              <a:t>Insurance: Flagging anomalous claim behaviour for deeper investigation</a:t>
            </a:r>
          </a:p>
          <a:p>
            <a:pPr lvl="1">
              <a:defRPr sz="1400"/>
            </a:pPr>
            <a:r>
              <a:t>Regulatory Compliance: Supporting KYC/AML obligations with explainable alerts</a:t>
            </a:r>
          </a:p>
          <a:p>
            <a:pPr lvl="1">
              <a:spcBef>
                <a:spcPts val="1000"/>
              </a:spcBef>
              <a:defRPr sz="1400"/>
            </a:pPr>
            <a:r>
              <a:t>The architecture is generic enough to be adapted to any high-volume transactional domain where timely detection of anomalous behaviour is critical.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t>Short-term</a:t>
            </a:r>
          </a:p>
          <a:p>
            <a:pPr lvl="1">
              <a:defRPr sz="1300"/>
            </a:pPr>
            <a:r>
              <a:t>Deep Learning (LSTM) for sequential patterns</a:t>
            </a:r>
          </a:p>
          <a:p>
            <a:pPr lvl="1">
              <a:defRPr sz="1300"/>
            </a:pPr>
            <a:r>
              <a:t>Real-time streaming with Apache Kafka</a:t>
            </a:r>
          </a:p>
          <a:p>
            <a:pPr lvl="1">
              <a:defRPr sz="1300"/>
            </a:pPr>
            <a:r>
              <a:t>Explainable AI (SHAP values)</a:t>
            </a:r>
          </a:p>
          <a:p>
            <a:pPr lvl="1">
              <a:defRPr sz="1300"/>
            </a:pPr>
            <a:r>
              <a:t>Automated hyperparameter tuning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t>Medium-term</a:t>
            </a:r>
          </a:p>
          <a:p>
            <a:pPr lvl="1">
              <a:defRPr sz="1300"/>
            </a:pPr>
            <a:r>
              <a:t>Multi-channel fraud detection (mobile, ATM, POS)</a:t>
            </a:r>
          </a:p>
          <a:p>
            <a:pPr lvl="1">
              <a:defRPr sz="1300"/>
            </a:pPr>
            <a:r>
              <a:t>Behavioral biometrics integration</a:t>
            </a:r>
          </a:p>
          <a:p>
            <a:pPr lvl="1">
              <a:defRPr sz="1300"/>
            </a:pPr>
            <a:r>
              <a:t>Graph analytics for fraud rings</a:t>
            </a:r>
          </a:p>
          <a:p>
            <a:pPr lvl="1">
              <a:defRPr sz="1300"/>
            </a:pPr>
            <a:r>
              <a:t>RESTful API development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t>Long-term</a:t>
            </a:r>
          </a:p>
          <a:p>
            <a:pPr lvl="1">
              <a:defRPr sz="1300"/>
            </a:pPr>
            <a:r>
              <a:t>Quantum machine learning</a:t>
            </a:r>
          </a:p>
          <a:p>
            <a:pPr lvl="1">
              <a:defRPr sz="1300"/>
            </a:pPr>
            <a:r>
              <a:t>Blockchain integration</a:t>
            </a:r>
          </a:p>
          <a:p>
            <a:pPr lvl="1">
              <a:defRPr sz="1300"/>
            </a:pPr>
            <a:r>
              <a:t>Federated learning for privacy</a:t>
            </a:r>
          </a:p>
          <a:p>
            <a:pPr lvl="1">
              <a:defRPr sz="1300"/>
            </a:pPr>
            <a:r>
              <a:t>Edge computing deployment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Key Achievements</a:t>
            </a:r>
          </a:p>
          <a:p>
            <a:pPr lvl="1">
              <a:spcAft>
                <a:spcPts val="400"/>
              </a:spcAft>
              <a:defRPr sz="1400"/>
            </a:pPr>
            <a:r>
              <a:t>✓ Modular fraud management system with 5 specialized modules</a:t>
            </a:r>
          </a:p>
          <a:p>
            <a:pPr lvl="1">
              <a:spcAft>
                <a:spcPts val="400"/>
              </a:spcAft>
              <a:defRPr sz="1400"/>
            </a:pPr>
            <a:r>
              <a:t>✓ 96.5% fraud detection accuracy with low false positives</a:t>
            </a:r>
          </a:p>
          <a:p>
            <a:pPr lvl="1">
              <a:spcAft>
                <a:spcPts val="400"/>
              </a:spcAft>
              <a:defRPr sz="1400"/>
            </a:pPr>
            <a:r>
              <a:t>✓ Real-time processing capability (3,000 txns/sec)</a:t>
            </a:r>
          </a:p>
          <a:p>
            <a:pPr lvl="1">
              <a:spcAft>
                <a:spcPts val="400"/>
              </a:spcAft>
              <a:defRPr sz="1400"/>
            </a:pPr>
            <a:r>
              <a:t>✓ Ensemble ML approach combining multiple algorithms</a:t>
            </a:r>
          </a:p>
          <a:p>
            <a:pPr lvl="1">
              <a:spcAft>
                <a:spcPts val="400"/>
              </a:spcAft>
              <a:defRPr sz="1400"/>
            </a:pPr>
            <a:r>
              <a:t>✓ Comprehensive customer risk profiling</a:t>
            </a:r>
          </a:p>
          <a:p>
            <a:pPr lvl="1">
              <a:spcAft>
                <a:spcPts val="400"/>
              </a:spcAft>
              <a:defRPr sz="1400"/>
            </a:pPr>
            <a:r>
              <a:t>✓ User-friendly web interface</a:t>
            </a:r>
          </a:p>
          <a:p>
            <a:pPr lvl="1">
              <a:spcAft>
                <a:spcPts val="400"/>
              </a:spcAft>
              <a:defRPr sz="1400"/>
            </a:pPr>
            <a:r>
              <a:t>✓ Production-ready with model persistence</a:t>
            </a:r>
          </a:p>
          <a:p>
            <a:pPr>
              <a:spcAft>
                <a:spcPts val="1000"/>
              </a:spcAft>
            </a:pPr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Impact</a:t>
            </a:r>
          </a:p>
          <a:p>
            <a:pPr lvl="1">
              <a:defRPr sz="1400"/>
            </a:pPr>
            <a:r>
              <a:t>This system demonstrates the practical applicability of AI/ML in fraud detection, providing organizations with a powerful tool to combat financial crimes while maintaining excellent user experience.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99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Codebase &amp;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Project Repository</a:t>
            </a:r>
          </a:p>
          <a:p>
            <a:pPr lvl="1">
              <a:spcAft>
                <a:spcPts val="800"/>
              </a:spcAft>
              <a:defRPr sz="1400"/>
            </a:pPr>
            <a:r>
              <a:t>The full dissertation codebase, including the web app, core AML engine, notebooks and documentation, is available on GitHub:</a:t>
            </a:r>
          </a:p>
          <a:p>
            <a:pPr lvl="1">
              <a:defRPr sz="1400" b="1"/>
            </a:pPr>
            <a:r>
              <a:t>https://github.com/TheSprinter/Dissertation-structured/tree/team</a:t>
            </a:r>
          </a:p>
          <a:p>
            <a:pPr lvl="1">
              <a:defRPr sz="1400"/>
            </a:pPr>
            <a:r>
              <a:t>The repository also contains the presentation generator, sample datasets and configuration required to reproduce the experiments.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 &amp; Discussion</a:t>
            </a:r>
          </a:p>
          <a:p>
            <a:pPr>
              <a:spcAft>
                <a:spcPts val="2000"/>
              </a:spcAft>
            </a:pPr>
            <a:endParaRPr/>
          </a:p>
          <a:p>
            <a:pPr algn="ctr">
              <a:defRPr sz="1600" i="1"/>
            </a:pPr>
            <a:r>
              <a:t>Simit Das | BITS ID: 2023AA05807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1655</Words>
  <Application>Microsoft Office PowerPoint</Application>
  <PresentationFormat>On-screen Show (4:3)</PresentationFormat>
  <Paragraphs>291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Presentation Agenda</vt:lpstr>
      <vt:lpstr>Introduction &amp; Problem Statement</vt:lpstr>
      <vt:lpstr>Project Objectives</vt:lpstr>
      <vt:lpstr>System Architecture Overview</vt:lpstr>
      <vt:lpstr>Design Patterns &amp; Principles</vt:lpstr>
      <vt:lpstr>Core Modules - Overview</vt:lpstr>
      <vt:lpstr>Module 1: Data Manager</vt:lpstr>
      <vt:lpstr>Module 2: Customer Profiler</vt:lpstr>
      <vt:lpstr>Module 3: Anomaly Detector</vt:lpstr>
      <vt:lpstr>Module 4: ML Predictor</vt:lpstr>
      <vt:lpstr>Module 5: Visualizer</vt:lpstr>
      <vt:lpstr>System Workflow &amp; Data Flow</vt:lpstr>
      <vt:lpstr>Technologies &amp; Tools Used (1/2)</vt:lpstr>
      <vt:lpstr>Technologies &amp; Tools Used (2/2)</vt:lpstr>
      <vt:lpstr>Algorithms &amp; Methodology</vt:lpstr>
      <vt:lpstr>Results &amp; Performance Metrics</vt:lpstr>
      <vt:lpstr>Comparative Analysis</vt:lpstr>
      <vt:lpstr>Performance &amp; Scalability</vt:lpstr>
      <vt:lpstr>Benefits &amp; Applications</vt:lpstr>
      <vt:lpstr>Real-World Applications</vt:lpstr>
      <vt:lpstr>Future Enhancements</vt:lpstr>
      <vt:lpstr>Conclusion</vt:lpstr>
      <vt:lpstr>Codebase &amp; Repository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Das, Simit</cp:lastModifiedBy>
  <cp:revision>4</cp:revision>
  <dcterms:created xsi:type="dcterms:W3CDTF">2013-01-27T09:14:16Z</dcterms:created>
  <dcterms:modified xsi:type="dcterms:W3CDTF">2026-02-08T17:46:31Z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e1e58c1-766d-4ff4-9619-b604fc37898b_Enabled">
    <vt:lpwstr>true</vt:lpwstr>
  </property>
  <property fmtid="{D5CDD505-2E9C-101B-9397-08002B2CF9AE}" pid="3" name="MSIP_Label_9e1e58c1-766d-4ff4-9619-b604fc37898b_SetDate">
    <vt:lpwstr>2026-02-08T17:12:26Z</vt:lpwstr>
  </property>
  <property fmtid="{D5CDD505-2E9C-101B-9397-08002B2CF9AE}" pid="4" name="MSIP_Label_9e1e58c1-766d-4ff4-9619-b604fc37898b_Method">
    <vt:lpwstr>Standard</vt:lpwstr>
  </property>
  <property fmtid="{D5CDD505-2E9C-101B-9397-08002B2CF9AE}" pid="5" name="MSIP_Label_9e1e58c1-766d-4ff4-9619-b604fc37898b_Name">
    <vt:lpwstr>Internal Use</vt:lpwstr>
  </property>
  <property fmtid="{D5CDD505-2E9C-101B-9397-08002B2CF9AE}" pid="6" name="MSIP_Label_9e1e58c1-766d-4ff4-9619-b604fc37898b_SiteId">
    <vt:lpwstr>e3ff91d8-34c8-4b15-a0b4-18910a6ac575</vt:lpwstr>
  </property>
  <property fmtid="{D5CDD505-2E9C-101B-9397-08002B2CF9AE}" pid="7" name="MSIP_Label_9e1e58c1-766d-4ff4-9619-b604fc37898b_ActionId">
    <vt:lpwstr>e5cda3d6-1f92-4390-acc8-7012c40e6225</vt:lpwstr>
  </property>
  <property fmtid="{D5CDD505-2E9C-101B-9397-08002B2CF9AE}" pid="8" name="MSIP_Label_9e1e58c1-766d-4ff4-9619-b604fc37898b_ContentBits">
    <vt:lpwstr>0</vt:lpwstr>
  </property>
  <property fmtid="{D5CDD505-2E9C-101B-9397-08002B2CF9AE}" pid="9" name="MSIP_Label_9e1e58c1-766d-4ff4-9619-b604fc37898b_Tag">
    <vt:lpwstr>10, 3, 0, 1</vt:lpwstr>
  </property>
</Properties>
</file>