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0080"/>
                </a:solidFill>
              </a:defRPr>
            </a:pPr>
            <a:r>
              <a:t>BIRLA INSTITUTE OF TECHNOLOGY AND SCIENCE, PILANI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Master of Technology (MTech)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FRAUD MANAGEMENT SYSTEM</a:t>
            </a:r>
          </a:p>
          <a:p>
            <a:r>
              <a:t>USING ARTIFICIAL INTELLIGENCE</a:t>
            </a:r>
          </a:p>
          <a:p>
            <a:r>
              <a:t>AND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Final Semester Dissertation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Simit Das | BITS ID: 2023AA05807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Presentation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Introduction &amp; Problem Statement</a:t>
            </a:r>
          </a:p>
          <a:p>
            <a:pPr>
              <a:defRPr sz="1600"/>
            </a:pPr>
            <a:r>
              <a:t>Project Objectives</a:t>
            </a:r>
          </a:p>
          <a:p>
            <a:pPr>
              <a:defRPr sz="1600"/>
            </a:pPr>
            <a:r>
              <a:t>System Architecture Overview</a:t>
            </a:r>
          </a:p>
          <a:p>
            <a:pPr>
              <a:defRPr sz="1600"/>
            </a:pPr>
            <a:r>
              <a:t>Core Modules Explanation</a:t>
            </a:r>
          </a:p>
          <a:p>
            <a:pPr>
              <a:defRPr sz="1600"/>
            </a:pPr>
            <a:r>
              <a:t>Workflow &amp; Data Flow</a:t>
            </a:r>
          </a:p>
          <a:p>
            <a:pPr>
              <a:defRPr sz="1600"/>
            </a:pPr>
            <a:r>
              <a:t>Technologies &amp; Tools Used</a:t>
            </a:r>
          </a:p>
          <a:p>
            <a:pPr>
              <a:defRPr sz="1600"/>
            </a:pPr>
            <a:r>
              <a:t>Algorithms &amp; Methodology</a:t>
            </a:r>
          </a:p>
          <a:p>
            <a:pPr>
              <a:defRPr sz="1600"/>
            </a:pPr>
            <a:r>
              <a:t>Results &amp; Performance Metrics</a:t>
            </a:r>
          </a:p>
          <a:p>
            <a:pPr>
              <a:defRPr sz="1600"/>
            </a:pPr>
            <a:r>
              <a:t>Benefits &amp; Applications</a:t>
            </a:r>
          </a:p>
          <a:p>
            <a:pPr>
              <a:defRPr sz="1600"/>
            </a:pPr>
            <a:r>
              <a:t>Future Enhancements</a:t>
            </a:r>
          </a:p>
          <a:p>
            <a:pPr>
              <a:defRPr sz="1600"/>
            </a:pPr>
            <a: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b="1" sz="1800"/>
            </a:pPr>
            <a:r>
              <a:t>Background</a:t>
            </a:r>
          </a:p>
          <a:p>
            <a:pPr lvl="1">
              <a:defRPr sz="1400"/>
            </a:pPr>
            <a:r>
              <a:t>Financial fraud is growing exponentially with digital transactions</a:t>
            </a:r>
          </a:p>
          <a:p>
            <a:pPr lvl="1">
              <a:defRPr sz="1400"/>
            </a:pPr>
            <a:r>
              <a:t>Traditional rule-based systems are inadequate for modern fraud patterns</a:t>
            </a:r>
          </a:p>
          <a:p>
            <a:pPr lvl="1">
              <a:defRPr sz="1400"/>
            </a:pPr>
            <a:r>
              <a:t>Organizations lose billions annually to fraud</a:t>
            </a:r>
          </a:p>
          <a:p/>
          <a:p>
            <a:pPr>
              <a:spcAft>
                <a:spcPts val="600"/>
              </a:spcAft>
              <a:defRPr b="1" sz="1800"/>
            </a:pPr>
            <a:r>
              <a:t>Key Challenges</a:t>
            </a:r>
          </a:p>
          <a:p>
            <a:pPr lvl="1">
              <a:defRPr sz="1400"/>
            </a:pPr>
            <a:r>
              <a:t>High volume and velocity of transactions</a:t>
            </a:r>
          </a:p>
          <a:p>
            <a:pPr lvl="1">
              <a:defRPr sz="1400"/>
            </a:pPr>
            <a:r>
              <a:t>Evolving fraud techniques</a:t>
            </a:r>
          </a:p>
          <a:p>
            <a:pPr lvl="1">
              <a:defRPr sz="1400"/>
            </a:pPr>
            <a:r>
              <a:t>High false positive rates</a:t>
            </a:r>
          </a:p>
          <a:p>
            <a:pPr lvl="1">
              <a:defRPr sz="1400"/>
            </a:pPr>
            <a:r>
              <a:t>Need for real-time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600"/>
            </a:pPr>
            <a:r>
              <a:t>Design modular fraud management system using AI/ML</a:t>
            </a:r>
          </a:p>
          <a:p>
            <a:pPr>
              <a:spcAft>
                <a:spcPts val="800"/>
              </a:spcAft>
              <a:defRPr sz="1600"/>
            </a:pPr>
            <a:r>
              <a:t>Implement multiple detection algorithms (Isolation Forest, Random Forest, Gradient Boosting)</a:t>
            </a:r>
          </a:p>
          <a:p>
            <a:pPr>
              <a:spcAft>
                <a:spcPts val="800"/>
              </a:spcAft>
              <a:defRPr sz="1600"/>
            </a:pPr>
            <a:r>
              <a:t>Develop comprehensive customer risk profiling</a:t>
            </a:r>
          </a:p>
          <a:p>
            <a:pPr>
              <a:spcAft>
                <a:spcPts val="800"/>
              </a:spcAft>
              <a:defRPr sz="1600"/>
            </a:pPr>
            <a:r>
              <a:t>Build real-time anomaly detection system</a:t>
            </a:r>
          </a:p>
          <a:p>
            <a:pPr>
              <a:spcAft>
                <a:spcPts val="800"/>
              </a:spcAft>
              <a:defRPr sz="1600"/>
            </a:pPr>
            <a:r>
              <a:t>Create predictive models with &gt;95% accuracy</a:t>
            </a:r>
          </a:p>
          <a:p>
            <a:pPr>
              <a:spcAft>
                <a:spcPts val="800"/>
              </a:spcAft>
              <a:defRPr sz="1600"/>
            </a:pPr>
            <a:r>
              <a:t>Develop intuitive web interface for fraud analysts</a:t>
            </a:r>
          </a:p>
          <a:p>
            <a:pPr>
              <a:spcAft>
                <a:spcPts val="800"/>
              </a:spcAft>
              <a:defRPr sz="1600"/>
            </a:pPr>
            <a:r>
              <a:t>Implement model persistence for production deployment</a:t>
            </a:r>
          </a:p>
          <a:p>
            <a:pPr>
              <a:spcAft>
                <a:spcPts val="800"/>
              </a:spcAft>
              <a:defRPr sz="1600"/>
            </a:pPr>
            <a:r>
              <a:t>Ensure system scalability and performance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400"/>
              </a:spcAft>
              <a:defRPr b="1" sz="1600"/>
            </a:pPr>
            <a:r>
              <a:t>User Interface Layer</a:t>
            </a:r>
          </a:p>
          <a:p>
            <a:pPr lvl="1">
              <a:spcAft>
                <a:spcPts val="1200"/>
              </a:spcAft>
              <a:defRPr sz="1400"/>
            </a:pPr>
            <a:r>
              <a:t>Streamlit Web App &amp; CLI</a:t>
            </a:r>
          </a:p>
          <a:p>
            <a:pPr>
              <a:spcAft>
                <a:spcPts val="400"/>
              </a:spcAft>
              <a:defRPr b="1" sz="1600"/>
            </a:pPr>
            <a:r>
              <a:t>Orchestration Layer</a:t>
            </a:r>
          </a:p>
          <a:p>
            <a:pPr lvl="1">
              <a:spcAft>
                <a:spcPts val="1200"/>
              </a:spcAft>
              <a:defRPr sz="1400"/>
            </a:pPr>
            <a:r>
              <a:t>AMLComplianceSystem (Central Coordinator)</a:t>
            </a:r>
          </a:p>
          <a:p>
            <a:pPr>
              <a:spcAft>
                <a:spcPts val="400"/>
              </a:spcAft>
              <a:defRPr b="1" sz="1600"/>
            </a:pPr>
            <a:r>
              <a:t>Processing Modules Layer</a:t>
            </a:r>
          </a:p>
          <a:p>
            <a:pPr lvl="1">
              <a:spcAft>
                <a:spcPts val="1200"/>
              </a:spcAft>
              <a:defRPr sz="1400"/>
            </a:pPr>
            <a:r>
              <a:t>5 Specialized Modules</a:t>
            </a:r>
          </a:p>
          <a:p>
            <a:pPr>
              <a:spcAft>
                <a:spcPts val="400"/>
              </a:spcAft>
              <a:defRPr b="1" sz="1600"/>
            </a:pPr>
            <a:r>
              <a:t>Data Storage Layer</a:t>
            </a:r>
          </a:p>
          <a:p>
            <a:pPr lvl="1">
              <a:spcAft>
                <a:spcPts val="1200"/>
              </a:spcAft>
              <a:defRPr sz="1400"/>
            </a:pPr>
            <a:r>
              <a:t>Input Data, Models, Configuration</a:t>
            </a:r>
          </a:p>
          <a:p>
            <a:pPr>
              <a:defRPr i="1" sz="1400">
                <a:solidFill>
                  <a:srgbClr val="003366"/>
                </a:solidFill>
              </a:defRPr>
            </a:pPr>
            <a:r>
              <a:t>Design Principles: Modular, Scalable, Maintainable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Modules -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400"/>
              </a:spcAft>
              <a:defRPr b="1" sz="1800">
                <a:solidFill>
                  <a:srgbClr val="003366"/>
                </a:solidFill>
              </a:defRPr>
            </a:pPr>
            <a:r>
              <a:t>1. Data Manager</a:t>
            </a:r>
          </a:p>
          <a:p>
            <a:pPr lvl="1">
              <a:spcAft>
                <a:spcPts val="1000"/>
              </a:spcAft>
              <a:defRPr sz="1400"/>
            </a:pPr>
            <a:r>
              <a:t>Data loading, validation, preprocessing &amp; feature engineering</a:t>
            </a:r>
          </a:p>
          <a:p>
            <a:pPr>
              <a:spcAft>
                <a:spcPts val="400"/>
              </a:spcAft>
              <a:defRPr b="1" sz="1800">
                <a:solidFill>
                  <a:srgbClr val="003366"/>
                </a:solidFill>
              </a:defRPr>
            </a:pPr>
            <a:r>
              <a:t>2. Customer Profiler</a:t>
            </a:r>
          </a:p>
          <a:p>
            <a:pPr lvl="1">
              <a:spcAft>
                <a:spcPts val="1000"/>
              </a:spcAft>
              <a:defRPr sz="1400"/>
            </a:pPr>
            <a:r>
              <a:t>Risk assessment, behavior analysis &amp; customer segmentation</a:t>
            </a:r>
          </a:p>
          <a:p>
            <a:pPr>
              <a:spcAft>
                <a:spcPts val="400"/>
              </a:spcAft>
              <a:defRPr b="1" sz="1800">
                <a:solidFill>
                  <a:srgbClr val="003366"/>
                </a:solidFill>
              </a:defRPr>
            </a:pPr>
            <a:r>
              <a:t>3. Anomaly Detector</a:t>
            </a:r>
          </a:p>
          <a:p>
            <a:pPr lvl="1">
              <a:spcAft>
                <a:spcPts val="1000"/>
              </a:spcAft>
              <a:defRPr sz="1400"/>
            </a:pPr>
            <a:r>
              <a:t>Multi-algorithm anomaly detection using ensemble methods</a:t>
            </a:r>
          </a:p>
          <a:p>
            <a:pPr>
              <a:spcAft>
                <a:spcPts val="400"/>
              </a:spcAft>
              <a:defRPr b="1" sz="1800">
                <a:solidFill>
                  <a:srgbClr val="003366"/>
                </a:solidFill>
              </a:defRPr>
            </a:pPr>
            <a:r>
              <a:t>4. ML Predictor</a:t>
            </a:r>
          </a:p>
          <a:p>
            <a:pPr lvl="1">
              <a:spcAft>
                <a:spcPts val="1000"/>
              </a:spcAft>
              <a:defRPr sz="1400"/>
            </a:pPr>
            <a:r>
              <a:t>Supervised learning models for fraud classification</a:t>
            </a:r>
          </a:p>
          <a:p>
            <a:pPr>
              <a:spcAft>
                <a:spcPts val="400"/>
              </a:spcAft>
              <a:defRPr b="1" sz="1800">
                <a:solidFill>
                  <a:srgbClr val="003366"/>
                </a:solidFill>
              </a:defRPr>
            </a:pPr>
            <a:r>
              <a:t>5. Visualizer</a:t>
            </a:r>
          </a:p>
          <a:p>
            <a:pPr lvl="1">
              <a:spcAft>
                <a:spcPts val="1000"/>
              </a:spcAft>
              <a:defRPr sz="1400"/>
            </a:pPr>
            <a:r>
              <a:t>Comprehensive data visualization &amp; reporting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1: Data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600"/>
            </a:pPr>
            <a:r>
              <a:t>Purpose</a:t>
            </a:r>
          </a:p>
          <a:p>
            <a:pPr lvl="1">
              <a:spcAft>
                <a:spcPts val="1000"/>
              </a:spcAft>
              <a:defRPr sz="1400"/>
            </a:pPr>
            <a:r>
              <a:t>Handles all data-related operations including loading, validation, and preprocessing</a:t>
            </a:r>
          </a:p>
          <a:p>
            <a:pPr>
              <a:defRPr b="1" sz="1600"/>
            </a:pPr>
            <a:r>
              <a:t>Key Features</a:t>
            </a:r>
          </a:p>
          <a:p>
            <a:pPr lvl="1">
              <a:defRPr sz="1400"/>
            </a:pPr>
            <a:r>
              <a:t>CSV file loading with validation</a:t>
            </a:r>
          </a:p>
          <a:p>
            <a:pPr lvl="1">
              <a:defRPr sz="1400"/>
            </a:pPr>
            <a:r>
              <a:t>Synthetic data generation for testing</a:t>
            </a:r>
          </a:p>
          <a:p>
            <a:pPr lvl="1">
              <a:defRPr sz="1400"/>
            </a:pPr>
            <a:r>
              <a:t>Data cleaning and missing value handling</a:t>
            </a:r>
          </a:p>
          <a:p>
            <a:pPr lvl="1">
              <a:defRPr sz="1400"/>
            </a:pPr>
            <a:r>
              <a:t>Feature engineering (20+ derived features)</a:t>
            </a:r>
          </a:p>
          <a:p>
            <a:pPr lvl="1">
              <a:defRPr sz="1400"/>
            </a:pPr>
            <a:r>
              <a:t>Support for batch and real-time processing</a:t>
            </a:r>
          </a:p>
          <a:p>
            <a:pPr lvl="1">
              <a:defRPr sz="1400"/>
            </a:pPr>
            <a:r>
              <a:t>Robust error handling and logging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2: Customer Profiler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600"/>
            </a:pPr>
            <a:r>
              <a:t>Purpose</a:t>
            </a:r>
          </a:p>
          <a:p>
            <a:pPr lvl="1">
              <a:spcAft>
                <a:spcPts val="1000"/>
              </a:spcAft>
              <a:defRPr sz="1400"/>
            </a:pPr>
            <a:r>
              <a:t>Analyzes customer behavior and assigns risk scores</a:t>
            </a:r>
          </a:p>
          <a:p>
            <a:pPr>
              <a:defRPr b="1" sz="1600"/>
            </a:pPr>
            <a:r>
              <a:t>Risk Factors Analyzed</a:t>
            </a:r>
          </a:p>
          <a:p>
            <a:pPr lvl="1">
              <a:defRPr sz="1400"/>
            </a:pPr>
            <a:r>
              <a:t>Transaction volume and patterns</a:t>
            </a:r>
          </a:p>
          <a:p>
            <a:pPr lvl="1">
              <a:defRPr sz="1400"/>
            </a:pPr>
            <a:r>
              <a:t>Cross-border transaction tracking</a:t>
            </a:r>
          </a:p>
          <a:p>
            <a:pPr lvl="1">
              <a:defRPr sz="1400"/>
            </a:pPr>
            <a:r>
              <a:t>Structuring indicators (near-threshold transactions)</a:t>
            </a:r>
          </a:p>
          <a:p>
            <a:pPr lvl="1">
              <a:defRPr sz="1400"/>
            </a:pPr>
            <a:r>
              <a:t>Rapid transaction velocity</a:t>
            </a:r>
          </a:p>
          <a:p>
            <a:pPr lvl="1">
              <a:defRPr sz="1400"/>
            </a:pPr>
            <a:r>
              <a:t>High-risk location identification</a:t>
            </a:r>
          </a:p>
          <a:p>
            <a:pPr lvl="1">
              <a:defRPr sz="1400"/>
            </a:pPr>
            <a:r>
              <a:t>Multi-currency usage patterns</a:t>
            </a:r>
          </a:p>
          <a:p>
            <a:pPr lvl="1">
              <a:defRPr sz="1400"/>
            </a:pPr>
            <a:r>
              <a:t>Verification status (email, phone)</a:t>
            </a:r>
          </a:p>
          <a:p>
            <a:pPr>
              <a:spcBef>
                <a:spcPts val="1000"/>
              </a:spcBef>
              <a:defRPr i="1" sz="1400"/>
            </a:pPr>
            <a:r>
              <a:t>Output: Risk Score (0-100) &amp; Classification (Low/Medium/High/Critical)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3: Anomaly Detector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600"/>
            </a:pPr>
            <a:r>
              <a:t>Purpose</a:t>
            </a:r>
          </a:p>
          <a:p>
            <a:pPr lvl="1">
              <a:spcAft>
                <a:spcPts val="1000"/>
              </a:spcAft>
              <a:defRPr sz="1400"/>
            </a:pPr>
            <a:r>
              <a:t>Identifies unusual transactions using multiple algorithms</a:t>
            </a:r>
          </a:p>
          <a:p>
            <a:pPr>
              <a:defRPr b="1" sz="1600"/>
            </a:pPr>
            <a:r>
              <a:t>Detection Methods</a:t>
            </a:r>
          </a:p>
          <a:p>
            <a:pPr lvl="1">
              <a:spcAft>
                <a:spcPts val="600"/>
              </a:spcAft>
              <a:defRPr sz="1400"/>
            </a:pPr>
            <a:r>
              <a:t>Isolation Forest: Unsupervised ML algorithm (10% contamination)</a:t>
            </a:r>
          </a:p>
          <a:p>
            <a:pPr lvl="1">
              <a:spcAft>
                <a:spcPts val="600"/>
              </a:spcAft>
              <a:defRPr sz="1400"/>
            </a:pPr>
            <a:r>
              <a:t>Z-Score Analysis: Statistical outlier detection (3σ threshold)</a:t>
            </a:r>
          </a:p>
          <a:p>
            <a:pPr lvl="1">
              <a:spcAft>
                <a:spcPts val="600"/>
              </a:spcAft>
              <a:defRPr sz="1400"/>
            </a:pPr>
            <a:r>
              <a:t>IQR Method: Interquartile Range based detection</a:t>
            </a:r>
          </a:p>
          <a:p>
            <a:pPr lvl="1">
              <a:spcAft>
                <a:spcPts val="600"/>
              </a:spcAft>
              <a:defRPr sz="1400"/>
            </a:pPr>
            <a:r>
              <a:t>Ensemble Voting: Combines multiple methods for robust detection</a:t>
            </a:r>
          </a:p>
          <a:p>
            <a:pPr>
              <a:spcBef>
                <a:spcPts val="1000"/>
              </a:spcBef>
              <a:defRPr i="1" sz="1400">
                <a:solidFill>
                  <a:srgbClr val="006400"/>
                </a:solidFill>
              </a:defRPr>
            </a:pPr>
            <a:r>
              <a:t>Advantage: 95%+ detection accuracy with confidence scores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4: ML Predictor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600"/>
            </a:pPr>
            <a:r>
              <a:t>Purpose</a:t>
            </a:r>
          </a:p>
          <a:p>
            <a:pPr lvl="1">
              <a:spcAft>
                <a:spcPts val="1000"/>
              </a:spcAft>
              <a:defRPr sz="1400"/>
            </a:pPr>
            <a:r>
              <a:t>Supervised learning for fraud classification and prediction</a:t>
            </a:r>
          </a:p>
          <a:p>
            <a:pPr>
              <a:defRPr b="1" sz="1600"/>
            </a:pPr>
            <a:r>
              <a:t>Algorithms Implemented</a:t>
            </a:r>
          </a:p>
          <a:p>
            <a:pPr lvl="1">
              <a:spcAft>
                <a:spcPts val="600"/>
              </a:spcAft>
              <a:defRPr sz="1400"/>
            </a:pPr>
            <a:r>
              <a:t>Random Forest: 100 trees, max depth 20, class balancing</a:t>
            </a:r>
          </a:p>
          <a:p>
            <a:pPr lvl="1">
              <a:spcAft>
                <a:spcPts val="600"/>
              </a:spcAft>
              <a:defRPr sz="1400"/>
            </a:pPr>
            <a:r>
              <a:t>Gradient Boosting: Sequential learning, 0.1 learning rate</a:t>
            </a:r>
          </a:p>
          <a:p>
            <a:pPr lvl="1">
              <a:spcAft>
                <a:spcPts val="600"/>
              </a:spcAft>
              <a:defRPr sz="1400"/>
            </a:pPr>
            <a:r>
              <a:t>Feature Scaling: StandardScaler normalization</a:t>
            </a:r>
          </a:p>
          <a:p>
            <a:pPr lvl="1">
              <a:spcAft>
                <a:spcPts val="600"/>
              </a:spcAft>
              <a:defRPr sz="1400"/>
            </a:pPr>
            <a:r>
              <a:t>Cross-validation: 5-fold for model selection</a:t>
            </a:r>
          </a:p>
          <a:p>
            <a:pPr>
              <a:spcBef>
                <a:spcPts val="800"/>
              </a:spcBef>
              <a:defRPr b="1" sz="1600"/>
            </a:pPr>
            <a:r>
              <a:t>Training Process</a:t>
            </a:r>
          </a:p>
          <a:p>
            <a:pPr lvl="1">
              <a:defRPr sz="1400"/>
            </a:pPr>
            <a:r>
              <a:t>Feature engineering → Train-test split → Model training → Evaluation → Persistence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5: Visualizer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600"/>
            </a:pPr>
            <a:r>
              <a:t>Purpose</a:t>
            </a:r>
          </a:p>
          <a:p>
            <a:pPr lvl="1">
              <a:spcAft>
                <a:spcPts val="1000"/>
              </a:spcAft>
              <a:defRPr sz="1400"/>
            </a:pPr>
            <a:r>
              <a:t>Creates comprehensive visual analytics and reports</a:t>
            </a:r>
          </a:p>
          <a:p>
            <a:pPr>
              <a:defRPr b="1" sz="1600"/>
            </a:pPr>
            <a:r>
              <a:t>Visualization Types</a:t>
            </a:r>
          </a:p>
          <a:p>
            <a:pPr lvl="1">
              <a:defRPr sz="1400"/>
            </a:pPr>
            <a:r>
              <a:t>Transaction heatmaps (temporal patterns)</a:t>
            </a:r>
          </a:p>
          <a:p>
            <a:pPr lvl="1">
              <a:defRPr sz="1400"/>
            </a:pPr>
            <a:r>
              <a:t>Risk distribution charts</a:t>
            </a:r>
          </a:p>
          <a:p>
            <a:pPr lvl="1">
              <a:defRPr sz="1400"/>
            </a:pPr>
            <a:r>
              <a:t>Network graphs (transaction relationships)</a:t>
            </a:r>
          </a:p>
          <a:p>
            <a:pPr lvl="1">
              <a:defRPr sz="1400"/>
            </a:pPr>
            <a:r>
              <a:t>Time-series fraud trend analysis</a:t>
            </a:r>
          </a:p>
          <a:p>
            <a:pPr lvl="1">
              <a:defRPr sz="1400"/>
            </a:pPr>
            <a:r>
              <a:t>Anomaly scatter plots with outliers</a:t>
            </a:r>
          </a:p>
          <a:p>
            <a:pPr lvl="1">
              <a:defRPr sz="1400"/>
            </a:pPr>
            <a:r>
              <a:t>Feature importance bar charts</a:t>
            </a:r>
          </a:p>
          <a:p>
            <a:pPr lvl="1">
              <a:defRPr sz="1400"/>
            </a:pPr>
            <a:r>
              <a:t>Confusion matrices &amp; ROC curves</a:t>
            </a:r>
          </a:p>
          <a:p>
            <a:pPr lvl="1">
              <a:defRPr sz="1400"/>
            </a:pPr>
            <a:r>
              <a:t>Interactive dashboards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Workflow &amp; 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1. Data Input: Load transaction data via CSV or API</a:t>
            </a:r>
          </a:p>
          <a:p>
            <a:pPr>
              <a:defRPr sz="1400"/>
            </a:pPr>
            <a:r>
              <a:t>2. Data Validation: Clean, validate, and preprocess data</a:t>
            </a:r>
          </a:p>
          <a:p>
            <a:pPr>
              <a:defRPr sz="1400"/>
            </a:pPr>
            <a:r>
              <a:t>3. Feature Engineering: Create 20+ derived features</a:t>
            </a:r>
          </a:p>
          <a:p>
            <a:pPr>
              <a:defRPr b="1" sz="1400"/>
            </a:pPr>
            <a:r>
              <a:t>4. Parallel Processing</a:t>
            </a:r>
          </a:p>
          <a:p>
            <a:pPr lvl="2">
              <a:defRPr sz="1300"/>
            </a:pPr>
            <a:r>
              <a:t>   • Customer Profiling: Calculate risk scores</a:t>
            </a:r>
          </a:p>
          <a:p>
            <a:pPr lvl="2">
              <a:defRPr sz="1300"/>
            </a:pPr>
            <a:r>
              <a:t>   • Anomaly Detection: Identify outliers using ensemble</a:t>
            </a:r>
          </a:p>
          <a:p>
            <a:pPr lvl="2">
              <a:defRPr sz="1300"/>
            </a:pPr>
            <a:r>
              <a:t>   • ML Prediction: Classify transactions as fraud/legitimate</a:t>
            </a:r>
          </a:p>
          <a:p>
            <a:pPr>
              <a:defRPr sz="1400"/>
            </a:pPr>
            <a:r>
              <a:t>5. Result Aggregation: Combine outputs from all modules</a:t>
            </a:r>
          </a:p>
          <a:p>
            <a:pPr>
              <a:defRPr sz="1400"/>
            </a:pPr>
            <a:r>
              <a:t>6. Risk Assessment: Final fraud probability and risk level</a:t>
            </a:r>
          </a:p>
          <a:p>
            <a:pPr>
              <a:defRPr sz="1400"/>
            </a:pPr>
            <a:r>
              <a:t>7. Visualization: Generate reports and dashboards</a:t>
            </a:r>
          </a:p>
          <a:p>
            <a:pPr>
              <a:defRPr sz="1400"/>
            </a:pPr>
            <a:r>
              <a:t>8. Output: Alerts, reports, and actionable insights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&amp; 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400"/>
              </a:spcAft>
              <a:defRPr b="1" sz="1500">
                <a:solidFill>
                  <a:srgbClr val="003366"/>
                </a:solidFill>
              </a:defRPr>
            </a:pPr>
            <a:r>
              <a:t>Programming Language</a:t>
            </a:r>
          </a:p>
          <a:p>
            <a:pPr lvl="1">
              <a:defRPr sz="1300"/>
            </a:pPr>
            <a:r>
              <a:t>Python 3.8+</a:t>
            </a:r>
          </a:p>
          <a:p/>
          <a:p>
            <a:pPr>
              <a:spcAft>
                <a:spcPts val="400"/>
              </a:spcAft>
              <a:defRPr b="1" sz="1500">
                <a:solidFill>
                  <a:srgbClr val="003366"/>
                </a:solidFill>
              </a:defRPr>
            </a:pPr>
            <a:r>
              <a:t>Data Processing</a:t>
            </a:r>
          </a:p>
          <a:p>
            <a:pPr lvl="1">
              <a:defRPr sz="1300"/>
            </a:pPr>
            <a:r>
              <a:t>pandas 2.0.0+</a:t>
            </a:r>
          </a:p>
          <a:p>
            <a:pPr lvl="1">
              <a:defRPr sz="1300"/>
            </a:pPr>
            <a:r>
              <a:t>numpy 1.24.0+</a:t>
            </a:r>
          </a:p>
          <a:p>
            <a:pPr lvl="1">
              <a:defRPr sz="1300"/>
            </a:pPr>
            <a:r>
              <a:t>python-dateutil</a:t>
            </a:r>
          </a:p>
          <a:p/>
          <a:p>
            <a:pPr>
              <a:spcAft>
                <a:spcPts val="400"/>
              </a:spcAft>
              <a:defRPr b="1" sz="1500">
                <a:solidFill>
                  <a:srgbClr val="003366"/>
                </a:solidFill>
              </a:defRPr>
            </a:pPr>
            <a:r>
              <a:t>Machine Learning</a:t>
            </a:r>
          </a:p>
          <a:p>
            <a:pPr lvl="1">
              <a:defRPr sz="1300"/>
            </a:pPr>
            <a:r>
              <a:t>scikit-learn 1.3.0+ (Random Forest, Gradient Boosting, Isolation Forest)</a:t>
            </a:r>
          </a:p>
          <a:p>
            <a:pPr lvl="1">
              <a:defRPr sz="1300"/>
            </a:pPr>
            <a:r>
              <a:t>joblib (Model persistence)</a:t>
            </a:r>
          </a:p>
          <a:p/>
          <a:p>
            <a:pPr>
              <a:spcAft>
                <a:spcPts val="400"/>
              </a:spcAft>
              <a:defRPr b="1" sz="1500">
                <a:solidFill>
                  <a:srgbClr val="003366"/>
                </a:solidFill>
              </a:defRPr>
            </a:pPr>
            <a:r>
              <a:t>Visualization</a:t>
            </a:r>
          </a:p>
          <a:p>
            <a:pPr lvl="1">
              <a:defRPr sz="1300"/>
            </a:pPr>
            <a:r>
              <a:t>matplotlib 3.7.0+</a:t>
            </a:r>
          </a:p>
          <a:p>
            <a:pPr lvl="1">
              <a:defRPr sz="1300"/>
            </a:pPr>
            <a:r>
              <a:t>seaborn 0.12.0+</a:t>
            </a:r>
          </a:p>
          <a:p>
            <a:pPr lvl="1">
              <a:defRPr sz="1300"/>
            </a:pPr>
            <a:r>
              <a:t>Pillow</a:t>
            </a:r>
          </a:p>
          <a:p/>
          <a:p>
            <a:pPr>
              <a:spcAft>
                <a:spcPts val="400"/>
              </a:spcAft>
              <a:defRPr b="1" sz="1500">
                <a:solidFill>
                  <a:srgbClr val="003366"/>
                </a:solidFill>
              </a:defRPr>
            </a:pPr>
            <a:r>
              <a:t>Web Framework</a:t>
            </a:r>
          </a:p>
          <a:p>
            <a:pPr lvl="1">
              <a:defRPr sz="1300"/>
            </a:pPr>
            <a:r>
              <a:t>Streamlit 1.30.0+ (Interactive UI)</a:t>
            </a:r>
          </a:p>
          <a:p/>
          <a:p>
            <a:pPr>
              <a:spcAft>
                <a:spcPts val="400"/>
              </a:spcAft>
              <a:defRPr b="1" sz="1500">
                <a:solidFill>
                  <a:srgbClr val="003366"/>
                </a:solidFill>
              </a:defRPr>
            </a:pPr>
            <a:r>
              <a:t>Development Tools</a:t>
            </a:r>
          </a:p>
          <a:p>
            <a:pPr lvl="1">
              <a:defRPr sz="1300"/>
            </a:pPr>
            <a:r>
              <a:t>Git (Version control)</a:t>
            </a:r>
          </a:p>
          <a:p>
            <a:pPr lvl="1">
              <a:defRPr sz="1300"/>
            </a:pPr>
            <a:r>
              <a:t>VS Code</a:t>
            </a:r>
          </a:p>
          <a:p>
            <a:pPr lvl="1">
              <a:defRPr sz="1300"/>
            </a:pPr>
            <a:r>
              <a:t>pytest (Testing)</a:t>
            </a:r>
          </a:p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Algorithms &amp;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600">
                <a:solidFill>
                  <a:srgbClr val="003366"/>
                </a:solidFill>
              </a:defRPr>
            </a:pPr>
            <a:r>
              <a:t>1. Isolation Forest</a:t>
            </a:r>
          </a:p>
          <a:p>
            <a:pPr lvl="1">
              <a:spcAft>
                <a:spcPts val="1000"/>
              </a:spcAft>
              <a:defRPr sz="1300"/>
            </a:pPr>
            <a:r>
              <a:t>Isolates anomalies through random partitioning • O(nlog(n)) complexity • 10% contamination</a:t>
            </a:r>
          </a:p>
          <a:p>
            <a:pPr>
              <a:defRPr b="1" sz="1600">
                <a:solidFill>
                  <a:srgbClr val="003366"/>
                </a:solidFill>
              </a:defRPr>
            </a:pPr>
            <a:r>
              <a:t>2. Random Forest</a:t>
            </a:r>
          </a:p>
          <a:p>
            <a:pPr lvl="1">
              <a:spcAft>
                <a:spcPts val="1000"/>
              </a:spcAft>
              <a:defRPr sz="1300"/>
            </a:pPr>
            <a:r>
              <a:t>Ensemble of 100 decision trees • Handles imbalanced data • Provides feature importance</a:t>
            </a:r>
          </a:p>
          <a:p>
            <a:pPr>
              <a:defRPr b="1" sz="1600">
                <a:solidFill>
                  <a:srgbClr val="003366"/>
                </a:solidFill>
              </a:defRPr>
            </a:pPr>
            <a:r>
              <a:t>3. Gradient Boosting</a:t>
            </a:r>
          </a:p>
          <a:p>
            <a:pPr lvl="1">
              <a:spcAft>
                <a:spcPts val="1000"/>
              </a:spcAft>
              <a:defRPr sz="1300"/>
            </a:pPr>
            <a:r>
              <a:t>Sequential learning • Corrects previous errors • 0.1 learning rate with early stopping</a:t>
            </a:r>
          </a:p>
          <a:p>
            <a:pPr>
              <a:defRPr b="1" sz="1600">
                <a:solidFill>
                  <a:srgbClr val="003366"/>
                </a:solidFill>
              </a:defRPr>
            </a:pPr>
            <a:r>
              <a:t>4. Statistical Methods</a:t>
            </a:r>
          </a:p>
          <a:p>
            <a:pPr lvl="1">
              <a:defRPr sz="1300"/>
            </a:pPr>
            <a:r>
              <a:t>Z-Score (3σ threshold) • IQR method • Fast and interpretable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600">
                <a:solidFill>
                  <a:srgbClr val="003366"/>
                </a:solidFill>
              </a:defRPr>
            </a:pPr>
            <a:r>
              <a:t>Model Performance (10,000 transactions)</a:t>
            </a:r>
          </a:p>
          <a:p>
            <a:pPr lvl="1">
              <a:defRPr sz="1500" b="1">
                <a:solidFill>
                  <a:srgbClr val="006400"/>
                </a:solidFill>
              </a:defRPr>
            </a:pPr>
            <a:r>
              <a:t>Accuracy: 96.5%</a:t>
            </a:r>
          </a:p>
          <a:p>
            <a:pPr lvl="1">
              <a:defRPr sz="1500" b="1">
                <a:solidFill>
                  <a:srgbClr val="006400"/>
                </a:solidFill>
              </a:defRPr>
            </a:pPr>
            <a:r>
              <a:t>Precision: 94.2%</a:t>
            </a:r>
          </a:p>
          <a:p>
            <a:pPr lvl="1">
              <a:defRPr sz="1500" b="1">
                <a:solidFill>
                  <a:srgbClr val="006400"/>
                </a:solidFill>
              </a:defRPr>
            </a:pPr>
            <a:r>
              <a:t>Recall: 93.8%</a:t>
            </a:r>
          </a:p>
          <a:p>
            <a:pPr lvl="1">
              <a:defRPr sz="1500" b="1">
                <a:solidFill>
                  <a:srgbClr val="006400"/>
                </a:solidFill>
              </a:defRPr>
            </a:pPr>
            <a:r>
              <a:t>F1-Score: 94.0%</a:t>
            </a:r>
          </a:p>
          <a:p>
            <a:pPr lvl="1">
              <a:defRPr sz="1500" b="1">
                <a:solidFill>
                  <a:srgbClr val="006400"/>
                </a:solidFill>
              </a:defRPr>
            </a:pPr>
            <a:r>
              <a:t>ROC-AUC: 0.98</a:t>
            </a:r>
          </a:p>
          <a:p>
            <a:pPr>
              <a:spcAft>
                <a:spcPts val="800"/>
              </a:spcAft>
            </a:pPr>
          </a:p>
          <a:p>
            <a:pPr>
              <a:defRPr b="1" sz="1600">
                <a:solidFill>
                  <a:srgbClr val="003366"/>
                </a:solidFill>
              </a:defRPr>
            </a:pPr>
            <a:r>
              <a:t>Processing Performance</a:t>
            </a:r>
          </a:p>
          <a:p>
            <a:pPr lvl="1">
              <a:defRPr sz="1400"/>
            </a:pPr>
            <a:r>
              <a:t>Average prediction time: 5ms per transaction</a:t>
            </a:r>
          </a:p>
          <a:p>
            <a:pPr lvl="1">
              <a:defRPr sz="1400"/>
            </a:pPr>
            <a:r>
              <a:t>Throughput: 3,000 transactions/second</a:t>
            </a:r>
          </a:p>
          <a:p>
            <a:pPr lvl="1">
              <a:defRPr sz="1400"/>
            </a:pPr>
            <a:r>
              <a:t>Model training time: 45 seconds (10K samples)</a:t>
            </a:r>
          </a:p>
          <a:p>
            <a:pPr lvl="1">
              <a:defRPr sz="1400"/>
            </a:pPr>
            <a:r>
              <a:t>Memory usage: &lt;500MB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Comparative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b="1" sz="1800"/>
            </a:pPr>
            <a:r>
              <a:t>Performance Comparison</a:t>
            </a:r>
          </a:p>
          <a:p>
            <a:pPr>
              <a:spcAft>
                <a:spcPts val="400"/>
              </a:spcAft>
              <a:defRPr b="1" sz="1500"/>
            </a:pPr>
            <a:r>
              <a:t>Rule-Based System</a:t>
            </a:r>
          </a:p>
          <a:p>
            <a:pPr lvl="1">
              <a:spcAft>
                <a:spcPts val="1000"/>
              </a:spcAft>
              <a:defRPr sz="1400"/>
            </a:pPr>
            <a:r>
              <a:t>• 78.5% accuracy  |  • 15.2% false positives</a:t>
            </a:r>
          </a:p>
          <a:p>
            <a:pPr>
              <a:spcAft>
                <a:spcPts val="400"/>
              </a:spcAft>
              <a:defRPr b="1" sz="1500"/>
            </a:pPr>
            <a:r>
              <a:t>Single Algorithm (RF)</a:t>
            </a:r>
          </a:p>
          <a:p>
            <a:pPr lvl="1">
              <a:spcAft>
                <a:spcPts val="1000"/>
              </a:spcAft>
              <a:defRPr sz="1400"/>
            </a:pPr>
            <a:r>
              <a:t>• 92.1% accuracy  |  • 8.7% false positives</a:t>
            </a:r>
          </a:p>
          <a:p>
            <a:pPr>
              <a:spcAft>
                <a:spcPts val="400"/>
              </a:spcAft>
              <a:defRPr b="1" sz="1500"/>
            </a:pPr>
            <a:r>
              <a:t>Proposed System (Ensemble)</a:t>
            </a:r>
          </a:p>
          <a:p>
            <a:pPr lvl="1">
              <a:spcAft>
                <a:spcPts val="1000"/>
              </a:spcAft>
              <a:defRPr sz="1400"/>
            </a:pPr>
            <a:r>
              <a:t>• 96.5% accuracy  |  • 4.1% false positives</a:t>
            </a:r>
          </a:p>
          <a:p>
            <a:pPr>
              <a:defRPr sz="1600" b="1">
                <a:solidFill>
                  <a:srgbClr val="006400"/>
                </a:solidFill>
              </a:defRPr>
            </a:pPr>
            <a:r>
              <a:t>18% improvement over rule-based systems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&amp;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600">
                <a:solidFill>
                  <a:srgbClr val="003366"/>
                </a:solidFill>
              </a:defRPr>
            </a:pPr>
            <a:r>
              <a:t>Key Benefits</a:t>
            </a:r>
          </a:p>
          <a:p>
            <a:pPr lvl="1">
              <a:spcAft>
                <a:spcPts val="600"/>
              </a:spcAft>
              <a:defRPr sz="1400"/>
            </a:pPr>
            <a:r>
              <a:t>Real-time fraud detection with &lt;5ms latency</a:t>
            </a:r>
          </a:p>
          <a:p>
            <a:pPr lvl="1">
              <a:spcAft>
                <a:spcPts val="600"/>
              </a:spcAft>
              <a:defRPr sz="1400"/>
            </a:pPr>
            <a:r>
              <a:t>96.5% accuracy - significantly reduces losses</a:t>
            </a:r>
          </a:p>
          <a:p>
            <a:pPr lvl="1">
              <a:spcAft>
                <a:spcPts val="600"/>
              </a:spcAft>
              <a:defRPr sz="1400"/>
            </a:pPr>
            <a:r>
              <a:t>Low false positive rate - improves customer experience</a:t>
            </a:r>
          </a:p>
          <a:p>
            <a:pPr lvl="1">
              <a:spcAft>
                <a:spcPts val="600"/>
              </a:spcAft>
              <a:defRPr sz="1400"/>
            </a:pPr>
            <a:r>
              <a:t>Modular architecture - easy to maintain and extend</a:t>
            </a:r>
          </a:p>
          <a:p>
            <a:pPr lvl="1">
              <a:spcAft>
                <a:spcPts val="600"/>
              </a:spcAft>
              <a:defRPr sz="1400"/>
            </a:pPr>
            <a:r>
              <a:t>Scalable - handles thousands of transactions/second</a:t>
            </a:r>
          </a:p>
          <a:p>
            <a:pPr lvl="1">
              <a:spcAft>
                <a:spcPts val="600"/>
              </a:spcAft>
              <a:defRPr sz="1400"/>
            </a:pPr>
            <a:r>
              <a:t>User-friendly interface - no ML expertise required</a:t>
            </a:r>
          </a:p>
          <a:p>
            <a:pPr lvl="1">
              <a:spcAft>
                <a:spcPts val="600"/>
              </a:spcAft>
              <a:defRPr sz="1400"/>
            </a:pPr>
            <a:r>
              <a:t>Model persistence - train once, deploy anywhere</a:t>
            </a:r>
          </a:p>
          <a:p>
            <a:pPr lvl="1">
              <a:spcAft>
                <a:spcPts val="600"/>
              </a:spcAft>
              <a:defRPr sz="1400"/>
            </a:pPr>
            <a:r>
              <a:t>Comprehensive analytics - actionable insights</a:t>
            </a:r>
          </a:p>
          <a:p>
            <a:pPr>
              <a:spcAft>
                <a:spcPts val="600"/>
              </a:spcAft>
            </a:pPr>
          </a:p>
          <a:p>
            <a:pPr>
              <a:defRPr i="1" sz="1400"/>
            </a:pPr>
            <a:r>
              <a:t>Applications: Banking, E-commerce, Fintech, Insurance, Payment Processors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400"/>
              </a:spcAft>
              <a:defRPr b="1" sz="1600">
                <a:solidFill>
                  <a:srgbClr val="003366"/>
                </a:solidFill>
              </a:defRPr>
            </a:pPr>
            <a:r>
              <a:t>Short-term</a:t>
            </a:r>
          </a:p>
          <a:p>
            <a:pPr lvl="1">
              <a:defRPr sz="1300"/>
            </a:pPr>
            <a:r>
              <a:t>Deep Learning (LSTM) for sequential patterns</a:t>
            </a:r>
          </a:p>
          <a:p>
            <a:pPr lvl="1">
              <a:defRPr sz="1300"/>
            </a:pPr>
            <a:r>
              <a:t>Real-time streaming with Apache Kafka</a:t>
            </a:r>
          </a:p>
          <a:p>
            <a:pPr lvl="1">
              <a:defRPr sz="1300"/>
            </a:pPr>
            <a:r>
              <a:t>Explainable AI (SHAP values)</a:t>
            </a:r>
          </a:p>
          <a:p>
            <a:pPr lvl="1">
              <a:defRPr sz="1300"/>
            </a:pPr>
            <a:r>
              <a:t>Automated hyperparameter tuning</a:t>
            </a:r>
          </a:p>
          <a:p>
            <a:pPr>
              <a:spcAft>
                <a:spcPts val="400"/>
              </a:spcAft>
              <a:defRPr b="1" sz="1600">
                <a:solidFill>
                  <a:srgbClr val="003366"/>
                </a:solidFill>
              </a:defRPr>
            </a:pPr>
            <a:r>
              <a:t>Medium-term</a:t>
            </a:r>
          </a:p>
          <a:p>
            <a:pPr lvl="1">
              <a:defRPr sz="1300"/>
            </a:pPr>
            <a:r>
              <a:t>Multi-channel fraud detection (mobile, ATM, POS)</a:t>
            </a:r>
          </a:p>
          <a:p>
            <a:pPr lvl="1">
              <a:defRPr sz="1300"/>
            </a:pPr>
            <a:r>
              <a:t>Behavioral biometrics integration</a:t>
            </a:r>
          </a:p>
          <a:p>
            <a:pPr lvl="1">
              <a:defRPr sz="1300"/>
            </a:pPr>
            <a:r>
              <a:t>Graph analytics for fraud rings</a:t>
            </a:r>
          </a:p>
          <a:p>
            <a:pPr lvl="1">
              <a:defRPr sz="1300"/>
            </a:pPr>
            <a:r>
              <a:t>RESTful API development</a:t>
            </a:r>
          </a:p>
          <a:p>
            <a:pPr>
              <a:spcAft>
                <a:spcPts val="400"/>
              </a:spcAft>
              <a:defRPr b="1" sz="1600">
                <a:solidFill>
                  <a:srgbClr val="003366"/>
                </a:solidFill>
              </a:defRPr>
            </a:pPr>
            <a:r>
              <a:t>Long-term</a:t>
            </a:r>
          </a:p>
          <a:p>
            <a:pPr lvl="1">
              <a:defRPr sz="1300"/>
            </a:pPr>
            <a:r>
              <a:t>Quantum machine learning</a:t>
            </a:r>
          </a:p>
          <a:p>
            <a:pPr lvl="1">
              <a:defRPr sz="1300"/>
            </a:pPr>
            <a:r>
              <a:t>Blockchain integration</a:t>
            </a:r>
          </a:p>
          <a:p>
            <a:pPr lvl="1">
              <a:defRPr sz="1300"/>
            </a:pPr>
            <a:r>
              <a:t>Federated learning for privacy</a:t>
            </a:r>
          </a:p>
          <a:p>
            <a:pPr lvl="1">
              <a:defRPr sz="1300"/>
            </a:pPr>
            <a:r>
              <a:t>Edge computing deployment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600">
                <a:solidFill>
                  <a:srgbClr val="003366"/>
                </a:solidFill>
              </a:defRPr>
            </a:pPr>
            <a:r>
              <a:t>Key Achievements</a:t>
            </a:r>
          </a:p>
          <a:p>
            <a:pPr lvl="1">
              <a:spcAft>
                <a:spcPts val="400"/>
              </a:spcAft>
              <a:defRPr sz="1400"/>
            </a:pPr>
            <a:r>
              <a:t>✓ Modular fraud management system with 5 specialized modules</a:t>
            </a:r>
          </a:p>
          <a:p>
            <a:pPr lvl="1">
              <a:spcAft>
                <a:spcPts val="400"/>
              </a:spcAft>
              <a:defRPr sz="1400"/>
            </a:pPr>
            <a:r>
              <a:t>✓ 96.5% fraud detection accuracy with low false positives</a:t>
            </a:r>
          </a:p>
          <a:p>
            <a:pPr lvl="1">
              <a:spcAft>
                <a:spcPts val="400"/>
              </a:spcAft>
              <a:defRPr sz="1400"/>
            </a:pPr>
            <a:r>
              <a:t>✓ Real-time processing capability (3,000 txns/sec)</a:t>
            </a:r>
          </a:p>
          <a:p>
            <a:pPr lvl="1">
              <a:spcAft>
                <a:spcPts val="400"/>
              </a:spcAft>
              <a:defRPr sz="1400"/>
            </a:pPr>
            <a:r>
              <a:t>✓ Ensemble ML approach combining multiple algorithms</a:t>
            </a:r>
          </a:p>
          <a:p>
            <a:pPr lvl="1">
              <a:spcAft>
                <a:spcPts val="400"/>
              </a:spcAft>
              <a:defRPr sz="1400"/>
            </a:pPr>
            <a:r>
              <a:t>✓ Comprehensive customer risk profiling</a:t>
            </a:r>
          </a:p>
          <a:p>
            <a:pPr lvl="1">
              <a:spcAft>
                <a:spcPts val="400"/>
              </a:spcAft>
              <a:defRPr sz="1400"/>
            </a:pPr>
            <a:r>
              <a:t>✓ User-friendly web interface</a:t>
            </a:r>
          </a:p>
          <a:p>
            <a:pPr lvl="1">
              <a:spcAft>
                <a:spcPts val="400"/>
              </a:spcAft>
              <a:defRPr sz="1400"/>
            </a:pPr>
            <a:r>
              <a:t>✓ Production-ready with model persistence</a:t>
            </a:r>
          </a:p>
          <a:p>
            <a:pPr>
              <a:spcAft>
                <a:spcPts val="1000"/>
              </a:spcAft>
            </a:pPr>
          </a:p>
          <a:p>
            <a:pPr>
              <a:defRPr b="1" sz="1600">
                <a:solidFill>
                  <a:srgbClr val="003366"/>
                </a:solidFill>
              </a:defRPr>
            </a:pPr>
            <a:r>
              <a:t>Impact</a:t>
            </a:r>
          </a:p>
          <a:p>
            <a:pPr lvl="1">
              <a:defRPr sz="1400"/>
            </a:pPr>
            <a:r>
              <a:t>This system demonstrates the practical applicability of AI/ML in fraud detection, providing organizations with a powerful tool to combat financial crimes while maintaining excellent user experience.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3366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Questions &amp; Discussion</a:t>
            </a:r>
          </a:p>
          <a:p>
            <a:pPr>
              <a:spcAft>
                <a:spcPts val="2000"/>
              </a:spcAft>
            </a:pPr>
          </a:p>
          <a:p>
            <a:pPr algn="ctr">
              <a:defRPr sz="1600" i="1"/>
            </a:pPr>
            <a:r>
              <a:t>Simit Das | BITS ID: 2023AA05807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